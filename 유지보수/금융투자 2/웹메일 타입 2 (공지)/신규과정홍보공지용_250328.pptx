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4"/>
  </p:notesMasterIdLst>
  <p:sldIdLst>
    <p:sldId id="274" r:id="rId2"/>
    <p:sldId id="270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3DA5"/>
    <a:srgbClr val="013E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8FDD6-7365-4B40-B3B4-F515151530F0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8A2184-4DAC-40BC-A5DB-C3DCDB2229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385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83" indent="0" algn="ctr">
              <a:buNone/>
              <a:defRPr sz="2100"/>
            </a:lvl2pPr>
            <a:lvl3pPr marL="685766" indent="0" algn="ctr">
              <a:buNone/>
              <a:defRPr sz="1800"/>
            </a:lvl3pPr>
            <a:lvl4pPr marL="1028648" indent="0" algn="ctr">
              <a:buNone/>
              <a:defRPr sz="1500"/>
            </a:lvl4pPr>
            <a:lvl5pPr marL="1371532" indent="0" algn="ctr">
              <a:buNone/>
              <a:defRPr sz="1500"/>
            </a:lvl5pPr>
            <a:lvl6pPr marL="1714415" indent="0" algn="ctr">
              <a:buNone/>
              <a:defRPr sz="1500"/>
            </a:lvl6pPr>
            <a:lvl7pPr marL="2057297" indent="0" algn="ctr">
              <a:buNone/>
              <a:defRPr sz="1500"/>
            </a:lvl7pPr>
            <a:lvl8pPr marL="2400180" indent="0" algn="ctr">
              <a:buNone/>
              <a:defRPr sz="1500"/>
            </a:lvl8pPr>
            <a:lvl9pPr marL="2743063" indent="0" algn="ctr">
              <a:buNone/>
              <a:defRPr sz="15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534-CAEF-46D5-9341-773A20E2A614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FD01-A45D-4AF7-9C93-05F2E0630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989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534-CAEF-46D5-9341-773A20E2A614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FD01-A45D-4AF7-9C93-05F2E0630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998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12424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52639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48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8pPr>
            <a:lvl9pPr marL="2743063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534-CAEF-46D5-9341-773A20E2A614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FD01-A45D-4AF7-9C93-05F2E0630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387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4"/>
            <a:ext cx="3886200" cy="435133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8804"/>
            <a:ext cx="3886200" cy="435133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534-CAEF-46D5-9341-773A20E2A614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FD01-A45D-4AF7-9C93-05F2E0630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084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6" y="1681852"/>
            <a:ext cx="3867151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883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8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3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6" y="2507556"/>
            <a:ext cx="3867151" cy="368052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3" y="1681852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883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8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3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3" y="2507556"/>
            <a:ext cx="3886201" cy="368052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534-CAEF-46D5-9341-773A20E2A614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FD01-A45D-4AF7-9C93-05F2E06302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650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534-CAEF-46D5-9341-773A20E2A614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FD01-A45D-4AF7-9C93-05F2E06302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0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534-CAEF-46D5-9341-773A20E2A614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FD01-A45D-4AF7-9C93-05F2E0630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74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7" y="457205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1" y="990600"/>
            <a:ext cx="4629151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7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883" indent="0">
              <a:buNone/>
              <a:defRPr sz="900"/>
            </a:lvl2pPr>
            <a:lvl3pPr marL="685766" indent="0">
              <a:buNone/>
              <a:defRPr sz="751"/>
            </a:lvl3pPr>
            <a:lvl4pPr marL="1028648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3" indent="0">
              <a:buNone/>
              <a:defRPr sz="67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534-CAEF-46D5-9341-773A20E2A614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FD01-A45D-4AF7-9C93-05F2E0630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948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7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1" y="990600"/>
            <a:ext cx="4629151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883" indent="0">
              <a:buNone/>
              <a:defRPr sz="2100"/>
            </a:lvl2pPr>
            <a:lvl3pPr marL="685766" indent="0">
              <a:buNone/>
              <a:defRPr sz="1800"/>
            </a:lvl3pPr>
            <a:lvl4pPr marL="1028648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3" indent="0">
              <a:buNone/>
              <a:defRPr sz="15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7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883" indent="0">
              <a:buNone/>
              <a:defRPr sz="900"/>
            </a:lvl2pPr>
            <a:lvl3pPr marL="685766" indent="0">
              <a:buNone/>
              <a:defRPr sz="751"/>
            </a:lvl3pPr>
            <a:lvl4pPr marL="1028648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3" indent="0">
              <a:buNone/>
              <a:defRPr sz="67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534-CAEF-46D5-9341-773A20E2A614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FD01-A45D-4AF7-9C93-05F2E0630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24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534-CAEF-46D5-9341-773A20E2A614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FD01-A45D-4AF7-9C93-05F2E0630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98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0363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0368"/>
            <a:ext cx="5800725" cy="581183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534-CAEF-46D5-9341-773A20E2A614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FD01-A45D-4AF7-9C93-05F2E0630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38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6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6" y="1828804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1AA1534-CAEF-46D5-9341-773A20E2A614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AFD01-A45D-4AF7-9C93-05F2E0630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407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l" defTabSz="685766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1" hangingPunct="1">
        <a:lnSpc>
          <a:spcPct val="90000"/>
        </a:lnSpc>
        <a:spcBef>
          <a:spcPts val="751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1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1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685766" rtl="0" eaLnBrk="1" latinLnBrk="1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1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685766" rtl="0" eaLnBrk="1" latinLnBrk="1" hangingPunct="1">
        <a:spcBef>
          <a:spcPct val="20000"/>
        </a:spcBef>
        <a:buFont typeface="Wingdings 2" pitchFamily="18" charset="2"/>
        <a:buChar char="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1" hangingPunct="1">
        <a:spcBef>
          <a:spcPct val="20000"/>
        </a:spcBef>
        <a:buFont typeface="Wingdings 2" pitchFamily="18" charset="2"/>
        <a:buChar char="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1" hangingPunct="1">
        <a:spcBef>
          <a:spcPct val="20000"/>
        </a:spcBef>
        <a:buFont typeface="Wingdings 2" pitchFamily="18" charset="2"/>
        <a:buChar char="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1" hangingPunct="1">
        <a:spcBef>
          <a:spcPct val="20000"/>
        </a:spcBef>
        <a:buFont typeface="Wingdings 2" pitchFamily="18" charset="2"/>
        <a:buChar char="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3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8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3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ifin.or.kr/course/active/detail.do?courseActiveSeq=29300&amp;courseMasterSeq=2972&amp;currentMenuId=003002" TargetMode="External"/><Relationship Id="rId13" Type="http://schemas.openxmlformats.org/officeDocument/2006/relationships/hyperlink" Target="https://www.kifin.or.kr/course/active/detail.do?courseActiveSeq=29305&amp;courseMasterSeq=2977&amp;currentMenuId=003002" TargetMode="External"/><Relationship Id="rId3" Type="http://schemas.openxmlformats.org/officeDocument/2006/relationships/hyperlink" Target="https://www.kifin.or.kr/course/active/detail.do?courseActiveSeq=29310&amp;courseMasterSeq=2980&amp;currentMenuId=003002" TargetMode="External"/><Relationship Id="rId7" Type="http://schemas.openxmlformats.org/officeDocument/2006/relationships/hyperlink" Target="https://www.kifin.or.kr/course/active/detail.do?courseActiveSeq=29313&amp;courseMasterSeq=2968&amp;currentMenuId=003002" TargetMode="External"/><Relationship Id="rId12" Type="http://schemas.openxmlformats.org/officeDocument/2006/relationships/hyperlink" Target="https://www.kifin.or.kr/course/active/detail.do?courseActiveSeq=29304&amp;courseMasterSeq=2976&amp;currentMenuId=003002" TargetMode="External"/><Relationship Id="rId2" Type="http://schemas.openxmlformats.org/officeDocument/2006/relationships/hyperlink" Target="https://www.kifin.or.kr/course/active/detail.do?courseActiveSeq=29309&amp;courseMasterSeq=2981&amp;currentMenuId=003002" TargetMode="External"/><Relationship Id="rId16" Type="http://schemas.openxmlformats.org/officeDocument/2006/relationships/hyperlink" Target="https://www.kifin.or.kr/course/active/detail.do?courseActiveSeq=29307&amp;courseMasterSeq=2979&amp;currentMenuId=003002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kifin.or.kr/course/active/detail.do?courseActiveSeq=29312&amp;courseMasterSeq=2967&amp;currentMenuId=003002" TargetMode="External"/><Relationship Id="rId11" Type="http://schemas.openxmlformats.org/officeDocument/2006/relationships/hyperlink" Target="https://www.kifin.or.kr/course/active/detail.do?courseActiveSeq=29303&amp;courseMasterSeq=2975&amp;currentMenuId=003002" TargetMode="External"/><Relationship Id="rId5" Type="http://schemas.openxmlformats.org/officeDocument/2006/relationships/hyperlink" Target="https://www.kifin.or.kr/course/active/detail.do?courseActiveSeq=29297&amp;courseMasterSeq=2970&amp;currentMenuId=003002" TargetMode="External"/><Relationship Id="rId15" Type="http://schemas.openxmlformats.org/officeDocument/2006/relationships/hyperlink" Target="https://www.kifin.or.kr/course/active/detail.do?courseActiveSeq=29299&amp;courseMasterSeq=2971&amp;currentMenuId=003002" TargetMode="External"/><Relationship Id="rId10" Type="http://schemas.openxmlformats.org/officeDocument/2006/relationships/hyperlink" Target="https://www.kifin.or.kr/course/active/detail.do?courseActiveSeq=29302&amp;courseMasterSeq=2973&amp;currentMenuId=003002" TargetMode="External"/><Relationship Id="rId4" Type="http://schemas.openxmlformats.org/officeDocument/2006/relationships/hyperlink" Target="https://www.kifin.or.kr/course/active/detail.do?courseActiveSeq=29298&amp;courseMasterSeq=2969&amp;currentMenuId=003002" TargetMode="External"/><Relationship Id="rId9" Type="http://schemas.openxmlformats.org/officeDocument/2006/relationships/hyperlink" Target="https://www.kifin.or.kr/course/active/detail.do?courseActiveSeq=29301&amp;courseMasterSeq=2974&amp;currentMenuId=003002" TargetMode="External"/><Relationship Id="rId14" Type="http://schemas.openxmlformats.org/officeDocument/2006/relationships/hyperlink" Target="https://www.kifin.or.kr/course/active/detail.do?courseActiveSeq=29306&amp;courseMasterSeq=2978&amp;currentMenuId=00300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658174"/>
              </p:ext>
            </p:extLst>
          </p:nvPr>
        </p:nvGraphicFramePr>
        <p:xfrm>
          <a:off x="349569" y="2534798"/>
          <a:ext cx="5328592" cy="3532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2506829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429849206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517944606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99047848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968972202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분류</a:t>
                      </a:r>
                      <a:endParaRPr lang="ko-KR" altLang="en-US" sz="11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과정명</a:t>
                      </a:r>
                      <a:endParaRPr lang="ko-KR" altLang="en-US" sz="11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학습시간</a:t>
                      </a:r>
                      <a:endParaRPr lang="ko-KR" altLang="en-US" sz="11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수강신청</a:t>
                      </a:r>
                      <a:endParaRPr lang="ko-KR" altLang="en-US" sz="11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25204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1</a:t>
                      </a:r>
                      <a:endParaRPr lang="ko-KR" altLang="en-US" sz="8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재무회계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ChatGPT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와 재무제표 활용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바로가기</a:t>
                      </a:r>
                      <a:endParaRPr lang="ko-KR" altLang="en-US" sz="8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036292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2</a:t>
                      </a:r>
                      <a:endParaRPr lang="ko-KR" altLang="en-US" sz="8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재무회계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직장인이 꼭 알아야 할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회계기초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27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바로가기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프리젠테이션 7 Bold" pitchFamily="2" charset="-127"/>
                        <a:ea typeface="프리젠테이션 7 Bold" pitchFamily="2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335569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3</a:t>
                      </a:r>
                      <a:endParaRPr lang="ko-KR" altLang="en-US" sz="8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경영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경제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ESG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액션플랜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바로가기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프리젠테이션 7 Bold" pitchFamily="2" charset="-127"/>
                        <a:ea typeface="프리젠테이션 7 Bold" pitchFamily="2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598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4</a:t>
                      </a:r>
                      <a:endParaRPr lang="ko-KR" altLang="en-US" sz="8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경영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경제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&lt;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트렌드 코리아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2025&gt;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프리미엄 클래스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바로가기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프리젠테이션 7 Bold" pitchFamily="2" charset="-127"/>
                        <a:ea typeface="프리젠테이션 7 Bold" pitchFamily="2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931433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5</a:t>
                      </a:r>
                      <a:endParaRPr lang="ko-KR" altLang="en-US" sz="8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IT/DT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[DS Class]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코딩 없이 유용하게 써먹는 엑셀 매크로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바로가기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프리젠테이션 7 Bold" pitchFamily="2" charset="-127"/>
                        <a:ea typeface="프리젠테이션 7 Bold" pitchFamily="2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087980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6</a:t>
                      </a:r>
                      <a:endParaRPr lang="ko-KR" altLang="en-US" sz="8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IT/DT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[DS Class]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회사에서 많이 쓰는 엑셀 함수와 수식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12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바로가기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프리젠테이션 7 Bold" pitchFamily="2" charset="-127"/>
                        <a:ea typeface="프리젠테이션 7 Bold" pitchFamily="2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022457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7</a:t>
                      </a:r>
                      <a:endParaRPr lang="ko-KR" altLang="en-US" sz="8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IT/DT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전사원이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 알아야 할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DT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지식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_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데이터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리터러시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10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바로가기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프리젠테이션 7 Bold" pitchFamily="2" charset="-127"/>
                        <a:ea typeface="프리젠테이션 7 Bold" pitchFamily="2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487438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8</a:t>
                      </a:r>
                      <a:endParaRPr lang="ko-KR" altLang="en-US" sz="8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IT/DT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업무시간을 절반으로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, </a:t>
                      </a:r>
                      <a:r>
                        <a:rPr lang="en-US" alt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ChatGPT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로 시작하는 데이터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리터러시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(1)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10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바로가기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프리젠테이션 7 Bold" pitchFamily="2" charset="-127"/>
                        <a:ea typeface="프리젠테이션 7 Bold" pitchFamily="2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709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9</a:t>
                      </a:r>
                      <a:endParaRPr lang="ko-KR" altLang="en-US" sz="8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IT/DT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업무시간을 절반으로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, </a:t>
                      </a:r>
                      <a:r>
                        <a:rPr lang="en-US" alt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ChatGPT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로 시작하는 데이터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리터러시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(2)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10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바로가기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프리젠테이션 7 Bold" pitchFamily="2" charset="-127"/>
                        <a:ea typeface="프리젠테이션 7 Bold" pitchFamily="2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59073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10</a:t>
                      </a:r>
                      <a:endParaRPr lang="ko-KR" altLang="en-US" sz="8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IT/DT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파이썬으로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 배우는 실전 금융 데이터 분석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(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퀀트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바로가기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프리젠테이션 7 Bold" pitchFamily="2" charset="-127"/>
                        <a:ea typeface="프리젠테이션 7 Bold" pitchFamily="2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317444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11</a:t>
                      </a:r>
                      <a:endParaRPr lang="ko-KR" altLang="en-US" sz="8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IT/DT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세상에서 가장 쉬운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IT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부트캠프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,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파이썬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BASIC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20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바로가기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프리젠테이션 7 Bold" pitchFamily="2" charset="-127"/>
                        <a:ea typeface="프리젠테이션 7 Bold" pitchFamily="2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083364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12</a:t>
                      </a:r>
                      <a:endParaRPr lang="ko-KR" altLang="en-US" sz="8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IT/DT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나의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칼퇴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 비법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, AI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를 활용한 엑셀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업무자동화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10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바로가기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프리젠테이션 7 Bold" pitchFamily="2" charset="-127"/>
                        <a:ea typeface="프리젠테이션 7 Bold" pitchFamily="2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307189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13</a:t>
                      </a:r>
                      <a:endParaRPr lang="ko-KR" altLang="en-US" sz="8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IT/DT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실무가 빨라지는 엑셀 마스터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_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매크로와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VBA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를 활용한 업무 자동화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12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바로가기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프리젠테이션 7 Bold" pitchFamily="2" charset="-127"/>
                        <a:ea typeface="프리젠테이션 7 Bold" pitchFamily="2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226330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14</a:t>
                      </a:r>
                      <a:endParaRPr lang="ko-KR" altLang="en-US" sz="8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비즈니스스킬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한석준의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 스피치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15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바로가기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프리젠테이션 7 Bold" pitchFamily="2" charset="-127"/>
                        <a:ea typeface="프리젠테이션 7 Bold" pitchFamily="2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137125"/>
                  </a:ext>
                </a:extLst>
              </a:tr>
              <a:tr h="2296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프리젠테이션 7 Bold" pitchFamily="2" charset="-127"/>
                          <a:ea typeface="프리젠테이션 7 Bold" pitchFamily="2" charset="-127"/>
                        </a:rPr>
                        <a:t>15</a:t>
                      </a:r>
                      <a:endParaRPr lang="ko-KR" altLang="en-US" sz="800" dirty="0"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비즈니스스킬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7 Bold" pitchFamily="2" charset="-127"/>
                        <a:ea typeface="프리젠테이션 7 Bold" pitchFamily="2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[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나 혼자만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레벨업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] AI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도 배우는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SSS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급 커뮤니케이션 스킬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7 Bold" pitchFamily="2" charset="-127"/>
                          <a:ea typeface="프리젠테이션 7 Bold" pitchFamily="2" charset="-127"/>
                        </a:rPr>
                        <a:t>10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바로가기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프리젠테이션 7 Bold" pitchFamily="2" charset="-127"/>
                        <a:ea typeface="프리젠테이션 7 Bold" pitchFamily="2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84505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662477" y="2137530"/>
            <a:ext cx="234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콘텐츠</a:t>
            </a:r>
            <a:r>
              <a:rPr lang="en-US" altLang="ko-KR" dirty="0"/>
              <a:t>ID : jv13900404</a:t>
            </a:r>
            <a:endParaRPr lang="ko-KR" altLang="en-US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639" y="995900"/>
            <a:ext cx="2096524" cy="15109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43892" y="1979640"/>
            <a:ext cx="4708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HY견고딕" panose="02030600000101010101" pitchFamily="18" charset="-127"/>
                <a:ea typeface="HY견고딕" panose="02030600000101010101" pitchFamily="18" charset="-127"/>
              </a:rPr>
              <a:t>*</a:t>
            </a:r>
            <a:r>
              <a:rPr lang="ko-KR" altLang="en-US" sz="1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수강신청 </a:t>
            </a:r>
            <a:r>
              <a:rPr lang="en-US" altLang="ko-KR" sz="1000" dirty="0">
                <a:latin typeface="HY견고딕" panose="02030600000101010101" pitchFamily="18" charset="-127"/>
                <a:ea typeface="HY견고딕" panose="02030600000101010101" pitchFamily="18" charset="-127"/>
              </a:rPr>
              <a:t>‘</a:t>
            </a:r>
            <a:r>
              <a:rPr lang="ko-KR" altLang="en-US" sz="1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바로가기</a:t>
            </a:r>
            <a:r>
              <a:rPr lang="en-US" altLang="ko-KR" sz="1000" dirty="0">
                <a:latin typeface="HY견고딕" panose="02030600000101010101" pitchFamily="18" charset="-127"/>
                <a:ea typeface="HY견고딕" panose="02030600000101010101" pitchFamily="18" charset="-127"/>
              </a:rPr>
              <a:t>’ </a:t>
            </a:r>
            <a:r>
              <a:rPr lang="ko-KR" altLang="en-US" sz="1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버튼을 클릭하시면</a:t>
            </a:r>
            <a:endParaRPr lang="en-US" altLang="ko-KR" sz="1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sz="1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수강신청 페이지로 이동합니다</a:t>
            </a:r>
            <a:r>
              <a:rPr lang="en-US" altLang="ko-KR" sz="1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572" y="1066284"/>
            <a:ext cx="582262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023DA5"/>
                </a:solidFill>
                <a:latin typeface="프리젠테이션 7 Bold" pitchFamily="2" charset="-127"/>
                <a:ea typeface="프리젠테이션 7 Bold" pitchFamily="2" charset="-127"/>
              </a:rPr>
              <a:t>디지털 전환</a:t>
            </a:r>
            <a:r>
              <a:rPr lang="en-US" altLang="ko-KR" sz="2000" dirty="0">
                <a:solidFill>
                  <a:srgbClr val="023DA5"/>
                </a:solidFill>
                <a:latin typeface="프리젠테이션 7 Bold" pitchFamily="2" charset="-127"/>
                <a:ea typeface="프리젠테이션 7 Bold" pitchFamily="2" charset="-127"/>
              </a:rPr>
              <a:t>(DT) </a:t>
            </a:r>
            <a:r>
              <a:rPr lang="ko-KR" altLang="en-US" sz="2000" dirty="0">
                <a:solidFill>
                  <a:srgbClr val="023DA5"/>
                </a:solidFill>
                <a:latin typeface="프리젠테이션 7 Bold" pitchFamily="2" charset="-127"/>
                <a:ea typeface="프리젠테이션 7 Bold" pitchFamily="2" charset="-127"/>
              </a:rPr>
              <a:t>및 업무 효율성 제고를</a:t>
            </a:r>
            <a:r>
              <a:rPr lang="en-US" altLang="ko-KR" sz="2000" dirty="0">
                <a:solidFill>
                  <a:srgbClr val="023DA5"/>
                </a:solidFill>
                <a:latin typeface="프리젠테이션 7 Bold" pitchFamily="2" charset="-127"/>
                <a:ea typeface="프리젠테이션 7 Bold" pitchFamily="2" charset="-127"/>
              </a:rPr>
              <a:t> </a:t>
            </a:r>
            <a:r>
              <a:rPr lang="ko-KR" altLang="en-US" sz="2000" dirty="0">
                <a:solidFill>
                  <a:srgbClr val="023DA5"/>
                </a:solidFill>
                <a:latin typeface="프리젠테이션 7 Bold" pitchFamily="2" charset="-127"/>
                <a:ea typeface="프리젠테이션 7 Bold" pitchFamily="2" charset="-127"/>
              </a:rPr>
              <a:t>위한</a:t>
            </a:r>
            <a:endParaRPr lang="en-US" altLang="ko-KR" sz="2000" dirty="0">
              <a:solidFill>
                <a:srgbClr val="023DA5"/>
              </a:solidFill>
              <a:latin typeface="프리젠테이션 7 Bold" pitchFamily="2" charset="-127"/>
              <a:ea typeface="프리젠테이션 7 Bold" pitchFamily="2" charset="-127"/>
            </a:endParaRPr>
          </a:p>
          <a:p>
            <a:r>
              <a:rPr lang="ko-KR" altLang="en-US" dirty="0">
                <a:solidFill>
                  <a:srgbClr val="023DA5"/>
                </a:solidFill>
                <a:latin typeface="프리젠테이션 7 Bold" pitchFamily="2" charset="-127"/>
                <a:ea typeface="프리젠테이션 7 Bold" pitchFamily="2" charset="-127"/>
              </a:rPr>
              <a:t>이러닝 과정을 소개합니다</a:t>
            </a:r>
            <a:r>
              <a:rPr lang="en-US" altLang="ko-KR" dirty="0">
                <a:solidFill>
                  <a:srgbClr val="023DA5"/>
                </a:solidFill>
                <a:latin typeface="프리젠테이션 7 Bold" pitchFamily="2" charset="-127"/>
                <a:ea typeface="프리젠테이션 7 Bold" pitchFamily="2" charset="-127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60432" y="214831"/>
            <a:ext cx="584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V.01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33" y="584163"/>
            <a:ext cx="1105431" cy="3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511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116632"/>
            <a:ext cx="6948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바로가기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연결 </a:t>
            </a:r>
            <a:r>
              <a:rPr lang="en-US" altLang="ko-KR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url</a:t>
            </a:r>
            <a:endParaRPr lang="en-US" altLang="ko-KR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659887"/>
              </p:ext>
            </p:extLst>
          </p:nvPr>
        </p:nvGraphicFramePr>
        <p:xfrm>
          <a:off x="107504" y="1196752"/>
          <a:ext cx="8856984" cy="46599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96344">
                  <a:extLst>
                    <a:ext uri="{9D8B030D-6E8A-4147-A177-3AD203B41FA5}">
                      <a16:colId xmlns:a16="http://schemas.microsoft.com/office/drawing/2014/main" val="235271893"/>
                    </a:ext>
                  </a:extLst>
                </a:gridCol>
                <a:gridCol w="5760640">
                  <a:extLst>
                    <a:ext uri="{9D8B030D-6E8A-4147-A177-3AD203B41FA5}">
                      <a16:colId xmlns:a16="http://schemas.microsoft.com/office/drawing/2014/main" val="3844072916"/>
                    </a:ext>
                  </a:extLst>
                </a:gridCol>
              </a:tblGrid>
              <a:tr h="3927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 err="1">
                          <a:effectLst/>
                        </a:rPr>
                        <a:t>과정명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과정 상세페이지 </a:t>
                      </a:r>
                      <a:r>
                        <a:rPr lang="en-US" altLang="ko-KR" sz="900" u="none" strike="noStrike">
                          <a:effectLst/>
                        </a:rPr>
                        <a:t>URL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4300431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u="none" strike="noStrike" dirty="0" err="1">
                          <a:effectLst/>
                        </a:rPr>
                        <a:t>ChatGPT</a:t>
                      </a:r>
                      <a:r>
                        <a:rPr lang="ko-KR" altLang="en-US" sz="900" u="none" strike="noStrike" dirty="0">
                          <a:effectLst/>
                        </a:rPr>
                        <a:t>와 재무제표 활용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sng" strike="noStrike">
                          <a:effectLst/>
                          <a:hlinkClick r:id="rId2"/>
                        </a:rPr>
                        <a:t>https://www.kifin.or.kr/course/active/detail.do?courseActiveSeq=29309&amp;courseMasterSeq=2981&amp;currentMenuId=003002</a:t>
                      </a:r>
                      <a:endParaRPr lang="en-US" sz="900" b="0" i="0" u="sng" strike="noStrike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3587143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직장인이 꼭 알아야 할 회계기초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sng" strike="noStrike" dirty="0">
                          <a:effectLst/>
                          <a:hlinkClick r:id="rId3"/>
                        </a:rPr>
                        <a:t>https://www.kifin.or.kr/course/active/detail.do?courseActiveSeq=29310&amp;courseMasterSeq=2980&amp;currentMenuId=003002</a:t>
                      </a:r>
                      <a:endParaRPr lang="en-US" sz="900" b="0" i="0" u="sng" strike="noStrike" dirty="0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80390075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ESG </a:t>
                      </a:r>
                      <a:r>
                        <a:rPr lang="ko-KR" altLang="en-US" sz="900" u="none" strike="noStrike">
                          <a:effectLst/>
                        </a:rPr>
                        <a:t>액션플랜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sng" strike="noStrike" dirty="0">
                          <a:effectLst/>
                          <a:hlinkClick r:id="rId4"/>
                        </a:rPr>
                        <a:t>https://www.kifin.or.kr/course/active/detail.do?courseActiveSeq=29298&amp;courseMasterSeq=2969&amp;currentMenuId=003002</a:t>
                      </a:r>
                      <a:endParaRPr lang="en-US" sz="900" b="0" i="0" u="sng" strike="noStrike" dirty="0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5726985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u="none" strike="noStrike">
                          <a:effectLst/>
                        </a:rPr>
                        <a:t>&lt;</a:t>
                      </a:r>
                      <a:r>
                        <a:rPr lang="ko-KR" altLang="en-US" sz="900" u="none" strike="noStrike">
                          <a:effectLst/>
                        </a:rPr>
                        <a:t>트렌드 코리아 </a:t>
                      </a:r>
                      <a:r>
                        <a:rPr lang="en-US" altLang="ko-KR" sz="900" u="none" strike="noStrike">
                          <a:effectLst/>
                        </a:rPr>
                        <a:t>2025&gt; </a:t>
                      </a:r>
                      <a:r>
                        <a:rPr lang="ko-KR" altLang="en-US" sz="900" u="none" strike="noStrike">
                          <a:effectLst/>
                        </a:rPr>
                        <a:t>프리미엄 클래스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sng" strike="noStrike" dirty="0">
                          <a:effectLst/>
                          <a:hlinkClick r:id="rId5"/>
                        </a:rPr>
                        <a:t>https://www.kifin.or.kr/course/active/detail.do?courseActiveSeq=29297&amp;courseMasterSeq=2970&amp;currentMenuId=003002</a:t>
                      </a:r>
                      <a:endParaRPr lang="en-US" sz="900" b="0" i="0" u="sng" strike="noStrike" dirty="0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7261226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u="none" strike="noStrike">
                          <a:effectLst/>
                        </a:rPr>
                        <a:t>[DS Class] </a:t>
                      </a:r>
                      <a:r>
                        <a:rPr lang="ko-KR" altLang="en-US" sz="900" u="none" strike="noStrike">
                          <a:effectLst/>
                        </a:rPr>
                        <a:t>코딩 없이 유용하게 써먹는 엑셀 매크로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sng" strike="noStrike" dirty="0">
                          <a:effectLst/>
                          <a:hlinkClick r:id="rId6"/>
                        </a:rPr>
                        <a:t>https://www.kifin.or.kr/course/active/detail.do?courseActiveSeq=29312&amp;courseMasterSeq=2967&amp;currentMenuId=003002</a:t>
                      </a:r>
                      <a:endParaRPr lang="en-US" sz="900" b="0" i="0" u="sng" strike="noStrike" dirty="0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15970686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u="none" strike="noStrike">
                          <a:effectLst/>
                        </a:rPr>
                        <a:t>[DS Class] </a:t>
                      </a:r>
                      <a:r>
                        <a:rPr lang="ko-KR" altLang="en-US" sz="900" u="none" strike="noStrike">
                          <a:effectLst/>
                        </a:rPr>
                        <a:t>회사에서 많이 쓰는 엑셀 함수와 수식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sng" strike="noStrike" dirty="0">
                          <a:effectLst/>
                          <a:hlinkClick r:id="rId7"/>
                        </a:rPr>
                        <a:t>https://www.kifin.or.kr/course/active/detail.do?courseActiveSeq=29313&amp;courseMasterSeq=2968&amp;currentMenuId=003002</a:t>
                      </a:r>
                      <a:endParaRPr lang="en-US" sz="900" b="0" i="0" u="sng" strike="noStrike" dirty="0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9556718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전사원이 알아야 할 </a:t>
                      </a:r>
                      <a:r>
                        <a:rPr lang="en-US" altLang="ko-KR" sz="900" u="none" strike="noStrike">
                          <a:effectLst/>
                        </a:rPr>
                        <a:t>DT</a:t>
                      </a:r>
                      <a:r>
                        <a:rPr lang="ko-KR" altLang="en-US" sz="900" u="none" strike="noStrike">
                          <a:effectLst/>
                        </a:rPr>
                        <a:t>지식</a:t>
                      </a:r>
                      <a:r>
                        <a:rPr lang="en-US" altLang="ko-KR" sz="900" u="none" strike="noStrike">
                          <a:effectLst/>
                        </a:rPr>
                        <a:t>_</a:t>
                      </a:r>
                      <a:r>
                        <a:rPr lang="ko-KR" altLang="en-US" sz="900" u="none" strike="noStrike">
                          <a:effectLst/>
                        </a:rPr>
                        <a:t>데이터 리터러시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sng" strike="noStrike" dirty="0">
                          <a:effectLst/>
                          <a:hlinkClick r:id="rId8"/>
                        </a:rPr>
                        <a:t>https://www.kifin.or.kr/course/active/detail.do?courseActiveSeq=29300&amp;courseMasterSeq=2972&amp;currentMenuId=003002</a:t>
                      </a:r>
                      <a:endParaRPr lang="en-US" sz="900" b="0" i="0" u="sng" strike="noStrike" dirty="0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8839818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업무시간을 절반으로</a:t>
                      </a:r>
                      <a:r>
                        <a:rPr lang="en-US" altLang="ko-KR" sz="900" u="none" strike="noStrike">
                          <a:effectLst/>
                        </a:rPr>
                        <a:t>, ChatGPT</a:t>
                      </a:r>
                      <a:r>
                        <a:rPr lang="ko-KR" altLang="en-US" sz="900" u="none" strike="noStrike">
                          <a:effectLst/>
                        </a:rPr>
                        <a:t>로 시작하는 데이터 리터러시</a:t>
                      </a:r>
                      <a:r>
                        <a:rPr lang="en-US" altLang="ko-KR" sz="900" u="none" strike="noStrike">
                          <a:effectLst/>
                        </a:rPr>
                        <a:t>(1)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sng" strike="noStrike" dirty="0">
                          <a:effectLst/>
                          <a:hlinkClick r:id="rId9"/>
                        </a:rPr>
                        <a:t>https://www.kifin.or.kr/course/active/detail.do?courseActiveSeq=29301&amp;courseMasterSeq=2974&amp;currentMenuId=003002</a:t>
                      </a:r>
                      <a:endParaRPr lang="en-US" sz="900" b="0" i="0" u="sng" strike="noStrike" dirty="0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91874274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업무시간을 절반으로</a:t>
                      </a:r>
                      <a:r>
                        <a:rPr lang="en-US" altLang="ko-KR" sz="900" u="none" strike="noStrike">
                          <a:effectLst/>
                        </a:rPr>
                        <a:t>, ChatGPT</a:t>
                      </a:r>
                      <a:r>
                        <a:rPr lang="ko-KR" altLang="en-US" sz="900" u="none" strike="noStrike">
                          <a:effectLst/>
                        </a:rPr>
                        <a:t>로 시작하는 데이터 리터러시</a:t>
                      </a:r>
                      <a:r>
                        <a:rPr lang="en-US" altLang="ko-KR" sz="900" u="none" strike="noStrike">
                          <a:effectLst/>
                        </a:rPr>
                        <a:t>(2)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sng" strike="noStrike" dirty="0">
                          <a:effectLst/>
                          <a:hlinkClick r:id="rId10"/>
                        </a:rPr>
                        <a:t>https://www.kifin.or.kr/course/active/detail.do?courseActiveSeq=29302&amp;courseMasterSeq=2973&amp;currentMenuId=003002</a:t>
                      </a:r>
                      <a:endParaRPr lang="en-US" sz="900" b="0" i="0" u="sng" strike="noStrike" dirty="0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1896783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파이썬으로 배우는 실전 금융 데이터 분석</a:t>
                      </a:r>
                      <a:r>
                        <a:rPr lang="en-US" altLang="ko-KR" sz="900" u="none" strike="noStrike">
                          <a:effectLst/>
                        </a:rPr>
                        <a:t>(</a:t>
                      </a:r>
                      <a:r>
                        <a:rPr lang="ko-KR" altLang="en-US" sz="900" u="none" strike="noStrike">
                          <a:effectLst/>
                        </a:rPr>
                        <a:t>퀀트</a:t>
                      </a:r>
                      <a:r>
                        <a:rPr lang="en-US" altLang="ko-KR" sz="900" u="none" strike="noStrike">
                          <a:effectLst/>
                        </a:rPr>
                        <a:t>)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sng" strike="noStrike" dirty="0">
                          <a:effectLst/>
                          <a:hlinkClick r:id="rId11"/>
                        </a:rPr>
                        <a:t>https://www.kifin.or.kr/course/active/detail.do?courseActiveSeq=29303&amp;courseMasterSeq=2975&amp;currentMenuId=003002</a:t>
                      </a:r>
                      <a:endParaRPr lang="en-US" sz="900" b="0" i="0" u="sng" strike="noStrike" dirty="0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1646244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세상에서 가장 쉬운 </a:t>
                      </a:r>
                      <a:r>
                        <a:rPr lang="en-US" altLang="ko-KR" sz="900" u="none" strike="noStrike">
                          <a:effectLst/>
                        </a:rPr>
                        <a:t>IT </a:t>
                      </a:r>
                      <a:r>
                        <a:rPr lang="ko-KR" altLang="en-US" sz="900" u="none" strike="noStrike">
                          <a:effectLst/>
                        </a:rPr>
                        <a:t>부트캠프</a:t>
                      </a:r>
                      <a:r>
                        <a:rPr lang="en-US" altLang="ko-KR" sz="900" u="none" strike="noStrike">
                          <a:effectLst/>
                        </a:rPr>
                        <a:t>, </a:t>
                      </a:r>
                      <a:r>
                        <a:rPr lang="ko-KR" altLang="en-US" sz="900" u="none" strike="noStrike">
                          <a:effectLst/>
                        </a:rPr>
                        <a:t>파이썬 </a:t>
                      </a:r>
                      <a:r>
                        <a:rPr lang="en-US" altLang="ko-KR" sz="900" u="none" strike="noStrike">
                          <a:effectLst/>
                        </a:rPr>
                        <a:t>BASIC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sng" strike="noStrike" dirty="0">
                          <a:effectLst/>
                          <a:hlinkClick r:id="rId12"/>
                        </a:rPr>
                        <a:t>https://www.kifin.or.kr/course/active/detail.do?courseActiveSeq=29304&amp;courseMasterSeq=2976&amp;currentMenuId=003002</a:t>
                      </a:r>
                      <a:endParaRPr lang="en-US" sz="900" b="0" i="0" u="sng" strike="noStrike" dirty="0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03624924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나의 칼퇴 비법</a:t>
                      </a:r>
                      <a:r>
                        <a:rPr lang="en-US" altLang="ko-KR" sz="900" u="none" strike="noStrike">
                          <a:effectLst/>
                        </a:rPr>
                        <a:t>, AI</a:t>
                      </a:r>
                      <a:r>
                        <a:rPr lang="ko-KR" altLang="en-US" sz="900" u="none" strike="noStrike">
                          <a:effectLst/>
                        </a:rPr>
                        <a:t>를 활용한 엑셀 업무자동화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sng" strike="noStrike" dirty="0">
                          <a:effectLst/>
                          <a:hlinkClick r:id="rId13"/>
                        </a:rPr>
                        <a:t>https://www.kifin.or.kr/course/active/detail.do?courseActiveSeq=29305&amp;courseMasterSeq=2977&amp;currentMenuId=003002</a:t>
                      </a:r>
                      <a:endParaRPr lang="en-US" sz="900" b="0" i="0" u="sng" strike="noStrike" dirty="0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35288089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실무가 빨라지는 엑셀 마스터</a:t>
                      </a:r>
                      <a:r>
                        <a:rPr lang="en-US" altLang="ko-KR" sz="900" u="none" strike="noStrike">
                          <a:effectLst/>
                        </a:rPr>
                        <a:t>_</a:t>
                      </a:r>
                      <a:r>
                        <a:rPr lang="ko-KR" altLang="en-US" sz="900" u="none" strike="noStrike">
                          <a:effectLst/>
                        </a:rPr>
                        <a:t>매크로와 </a:t>
                      </a:r>
                      <a:r>
                        <a:rPr lang="en-US" altLang="ko-KR" sz="900" u="none" strike="noStrike">
                          <a:effectLst/>
                        </a:rPr>
                        <a:t>VBA</a:t>
                      </a:r>
                      <a:r>
                        <a:rPr lang="ko-KR" altLang="en-US" sz="900" u="none" strike="noStrike">
                          <a:effectLst/>
                        </a:rPr>
                        <a:t>를 활용한 업무 자동화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sng" strike="noStrike" dirty="0">
                          <a:effectLst/>
                          <a:hlinkClick r:id="rId14"/>
                        </a:rPr>
                        <a:t>https://www.kifin.or.kr/course/active/detail.do?courseActiveSeq=29306&amp;courseMasterSeq=2978&amp;currentMenuId=003002</a:t>
                      </a:r>
                      <a:endParaRPr lang="en-US" sz="900" b="0" i="0" u="sng" strike="noStrike" dirty="0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4440397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한석준의 스피치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sng" strike="noStrike" dirty="0">
                          <a:effectLst/>
                          <a:hlinkClick r:id="rId15"/>
                        </a:rPr>
                        <a:t>https://www.kifin.or.kr/course/active/detail.do?courseActiveSeq=29299&amp;courseMasterSeq=2971&amp;currentMenuId=003002</a:t>
                      </a:r>
                      <a:endParaRPr lang="en-US" sz="900" b="0" i="0" u="sng" strike="noStrike" dirty="0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477945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u="none" strike="noStrike">
                          <a:effectLst/>
                        </a:rPr>
                        <a:t>[</a:t>
                      </a:r>
                      <a:r>
                        <a:rPr lang="ko-KR" altLang="en-US" sz="900" u="none" strike="noStrike">
                          <a:effectLst/>
                        </a:rPr>
                        <a:t>나 혼자만 레벨업</a:t>
                      </a:r>
                      <a:r>
                        <a:rPr lang="en-US" altLang="ko-KR" sz="900" u="none" strike="noStrike">
                          <a:effectLst/>
                        </a:rPr>
                        <a:t>] AI</a:t>
                      </a:r>
                      <a:r>
                        <a:rPr lang="ko-KR" altLang="en-US" sz="900" u="none" strike="noStrike">
                          <a:effectLst/>
                        </a:rPr>
                        <a:t>도 배우는 </a:t>
                      </a:r>
                      <a:r>
                        <a:rPr lang="en-US" altLang="ko-KR" sz="900" u="none" strike="noStrike">
                          <a:effectLst/>
                        </a:rPr>
                        <a:t>SSS</a:t>
                      </a:r>
                      <a:r>
                        <a:rPr lang="ko-KR" altLang="en-US" sz="900" u="none" strike="noStrike">
                          <a:effectLst/>
                        </a:rPr>
                        <a:t>급 커뮤니케이션 스킬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sng" strike="noStrike" dirty="0">
                          <a:effectLst/>
                          <a:hlinkClick r:id="rId16"/>
                        </a:rPr>
                        <a:t>https://www.kifin.or.kr/course/active/detail.do?courseActiveSeq=29307&amp;courseMasterSeq=2979&amp;currentMenuId=003002</a:t>
                      </a:r>
                      <a:endParaRPr lang="en-US" sz="900" b="0" i="0" u="sng" strike="noStrike" dirty="0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658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6089853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TM02900720[[fn=전체]]</Template>
  <TotalTime>1167</TotalTime>
  <Words>389</Words>
  <Application>Microsoft Office PowerPoint</Application>
  <PresentationFormat>화면 슬라이드 쇼(4:3)</PresentationFormat>
  <Paragraphs>118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HY견고딕</vt:lpstr>
      <vt:lpstr>맑은 고딕</vt:lpstr>
      <vt:lpstr>프리젠테이션 7 Bold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과정명 : 00000000</dc:title>
  <dc:creator>user</dc:creator>
  <cp:lastModifiedBy>user</cp:lastModifiedBy>
  <cp:revision>72</cp:revision>
  <dcterms:created xsi:type="dcterms:W3CDTF">2024-08-26T07:18:02Z</dcterms:created>
  <dcterms:modified xsi:type="dcterms:W3CDTF">2025-03-28T04:45:01Z</dcterms:modified>
</cp:coreProperties>
</file>