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56" r:id="rId4"/>
    <p:sldId id="257" r:id="rId5"/>
    <p:sldId id="264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90" y="9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7617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16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4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57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328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2107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399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545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992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89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0137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421D69-664A-41C2-BF30-61F2ECCD5F43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889E31-8769-4C9F-8141-DBE0172154D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926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8189" y="474453"/>
            <a:ext cx="519310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/>
              <a:t>모집 포스터</a:t>
            </a:r>
            <a:r>
              <a:rPr lang="en-US" altLang="ko-KR" dirty="0" smtClean="0"/>
              <a:t>(</a:t>
            </a:r>
            <a:r>
              <a:rPr lang="ko-KR" altLang="en-US" dirty="0" smtClean="0"/>
              <a:t>온라인용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교육원 홈페이지 메인 배너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금융투자협회 홈페이지 배너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smtClean="0"/>
              <a:t>금융감독원</a:t>
            </a:r>
            <a:r>
              <a:rPr lang="en-US" altLang="ko-KR" dirty="0" smtClean="0"/>
              <a:t>(</a:t>
            </a:r>
            <a:r>
              <a:rPr lang="ko-KR" altLang="en-US" dirty="0" smtClean="0"/>
              <a:t>파인 포함</a:t>
            </a:r>
            <a:r>
              <a:rPr lang="en-US" altLang="ko-KR" dirty="0" smtClean="0"/>
              <a:t>)</a:t>
            </a:r>
            <a:r>
              <a:rPr lang="ko-KR" altLang="en-US" dirty="0" smtClean="0"/>
              <a:t> 홈페이지 배너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 smtClean="0"/>
              <a:t>웹메일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786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65831"/>
            <a:ext cx="6376307" cy="7325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 smtClean="0"/>
              <a:t>과정명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2025</a:t>
            </a:r>
            <a:r>
              <a:rPr lang="ko-KR" altLang="en-US" sz="1400" dirty="0" smtClean="0"/>
              <a:t>년 </a:t>
            </a:r>
            <a:r>
              <a:rPr lang="ko-KR" altLang="en-US" sz="1400" dirty="0" smtClean="0"/>
              <a:t>서울 </a:t>
            </a:r>
            <a:r>
              <a:rPr lang="ko-KR" altLang="en-US" sz="1400" dirty="0" err="1" smtClean="0"/>
              <a:t>핀테크</a:t>
            </a:r>
            <a:r>
              <a:rPr lang="ko-KR" altLang="en-US" sz="1400" dirty="0" smtClean="0"/>
              <a:t> 아카데미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err="1" smtClean="0"/>
              <a:t>과정특징</a:t>
            </a:r>
            <a:r>
              <a:rPr lang="ko-KR" altLang="en-US" sz="1400" dirty="0" smtClean="0"/>
              <a:t> 기존과 동일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err="1" smtClean="0"/>
              <a:t>선발일정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접수기간 </a:t>
            </a:r>
            <a:r>
              <a:rPr lang="en-US" altLang="ko-KR" sz="1400" dirty="0" smtClean="0"/>
              <a:t>: </a:t>
            </a:r>
            <a:r>
              <a:rPr lang="en-US" altLang="ko-KR" sz="1400" dirty="0" smtClean="0"/>
              <a:t>2025. 6. 4(</a:t>
            </a:r>
            <a:r>
              <a:rPr lang="ko-KR" altLang="en-US" sz="1400" dirty="0" smtClean="0"/>
              <a:t>수</a:t>
            </a:r>
            <a:r>
              <a:rPr lang="en-US" altLang="ko-KR" sz="1400" dirty="0"/>
              <a:t>) ~ </a:t>
            </a:r>
            <a:r>
              <a:rPr lang="en-US" altLang="ko-KR" sz="1400" dirty="0" smtClean="0"/>
              <a:t>6. 24(</a:t>
            </a:r>
            <a:r>
              <a:rPr lang="ko-KR" altLang="en-US" sz="1400" dirty="0" smtClean="0"/>
              <a:t>화</a:t>
            </a:r>
            <a:r>
              <a:rPr lang="en-US" altLang="ko-KR" sz="1400" dirty="0" smtClean="0"/>
              <a:t>) </a:t>
            </a:r>
            <a:r>
              <a:rPr lang="en-US" altLang="ko-KR" sz="1400" dirty="0"/>
              <a:t>15:00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- </a:t>
            </a:r>
            <a:r>
              <a:rPr lang="ko-KR" altLang="en-US" sz="1400" dirty="0" smtClean="0"/>
              <a:t>합격자 통보 </a:t>
            </a:r>
            <a:r>
              <a:rPr lang="en-US" altLang="ko-KR" sz="1400" dirty="0" smtClean="0"/>
              <a:t>: 2023. </a:t>
            </a:r>
            <a:r>
              <a:rPr lang="en-US" altLang="ko-KR" sz="1400" dirty="0" smtClean="0"/>
              <a:t>6. 30(</a:t>
            </a:r>
            <a:r>
              <a:rPr lang="ko-KR" altLang="en-US" sz="1400" dirty="0" smtClean="0"/>
              <a:t>월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- </a:t>
            </a:r>
            <a:r>
              <a:rPr lang="ko-KR" altLang="en-US" sz="1400" dirty="0" smtClean="0"/>
              <a:t>수강료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예치금</a:t>
            </a:r>
            <a:r>
              <a:rPr lang="en-US" altLang="ko-KR" sz="1400" dirty="0" smtClean="0"/>
              <a:t>) : 40</a:t>
            </a:r>
            <a:r>
              <a:rPr lang="ko-KR" altLang="en-US" sz="1400" dirty="0" smtClean="0"/>
              <a:t>만원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수료 시 전액 환급</a:t>
            </a:r>
            <a:r>
              <a:rPr lang="en-US" altLang="ko-KR" sz="1400" dirty="0" smtClean="0"/>
              <a:t>)</a:t>
            </a:r>
          </a:p>
          <a:p>
            <a:r>
              <a:rPr lang="en-US" altLang="ko-KR" sz="1000" dirty="0"/>
              <a:t> </a:t>
            </a:r>
            <a:r>
              <a:rPr lang="en-US" altLang="ko-KR" sz="1000" dirty="0" smtClean="0"/>
              <a:t>                 * </a:t>
            </a:r>
            <a:r>
              <a:rPr lang="ko-KR" altLang="en-US" sz="1000" dirty="0" smtClean="0"/>
              <a:t>서울시 홈페이지 및 합격자 개별 통보 예정</a:t>
            </a:r>
            <a:r>
              <a:rPr lang="en-US" altLang="ko-KR" sz="1000" dirty="0" smtClean="0"/>
              <a:t> (</a:t>
            </a:r>
            <a:r>
              <a:rPr lang="ko-KR" altLang="en-US" sz="1000" dirty="0" smtClean="0"/>
              <a:t>상기 일정은 변경될 수 있음</a:t>
            </a:r>
            <a:r>
              <a:rPr lang="en-US" altLang="ko-KR" sz="1000" dirty="0" smtClean="0"/>
              <a:t>)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</a:t>
            </a:r>
          </a:p>
          <a:p>
            <a:r>
              <a:rPr lang="ko-KR" altLang="en-US" sz="1400" dirty="0" smtClean="0"/>
              <a:t>모집대상 </a:t>
            </a:r>
            <a:r>
              <a:rPr lang="ko-KR" altLang="en-US" sz="1400" dirty="0" smtClean="0"/>
              <a:t>금융</a:t>
            </a:r>
            <a:r>
              <a:rPr lang="en-US" altLang="ko-KR" sz="1400" dirty="0"/>
              <a:t>·</a:t>
            </a:r>
            <a:r>
              <a:rPr lang="ko-KR" altLang="en-US" sz="1400" dirty="0" err="1"/>
              <a:t>핀테크업계</a:t>
            </a:r>
            <a:r>
              <a:rPr lang="ko-KR" altLang="en-US" sz="1400" dirty="0"/>
              <a:t> 종사자 및 </a:t>
            </a:r>
            <a:r>
              <a:rPr lang="ko-KR" altLang="en-US" sz="1400" dirty="0" err="1" smtClean="0"/>
              <a:t>핀테크에</a:t>
            </a:r>
            <a:r>
              <a:rPr lang="ko-KR" altLang="en-US" sz="1400" dirty="0" smtClean="0"/>
              <a:t> 관심 </a:t>
            </a:r>
            <a:r>
              <a:rPr lang="ko-KR" altLang="en-US" sz="1400" dirty="0"/>
              <a:t>있는 대학생</a:t>
            </a:r>
            <a:r>
              <a:rPr lang="en-US" altLang="ko-KR" sz="1400" dirty="0"/>
              <a:t>, </a:t>
            </a:r>
          </a:p>
          <a:p>
            <a:r>
              <a:rPr lang="en-US" altLang="ko-KR" sz="1400" dirty="0"/>
              <a:t>              </a:t>
            </a:r>
            <a:r>
              <a:rPr lang="ko-KR" altLang="en-US" sz="1400" dirty="0" err="1"/>
              <a:t>취업준비생</a:t>
            </a:r>
            <a:r>
              <a:rPr lang="en-US" altLang="ko-KR" sz="1400" dirty="0"/>
              <a:t>, </a:t>
            </a:r>
            <a:r>
              <a:rPr lang="ko-KR" altLang="en-US" sz="1400" dirty="0"/>
              <a:t>직장인 등</a:t>
            </a:r>
          </a:p>
          <a:p>
            <a:r>
              <a:rPr lang="en-US" altLang="ko-KR" sz="1000" dirty="0" smtClean="0"/>
              <a:t>                 </a:t>
            </a:r>
            <a:r>
              <a:rPr lang="en-US" altLang="ko-KR" sz="1000" dirty="0" smtClean="0"/>
              <a:t>* </a:t>
            </a:r>
            <a:r>
              <a:rPr lang="ko-KR" altLang="en-US" sz="1000" dirty="0" smtClean="0"/>
              <a:t>단</a:t>
            </a:r>
            <a:r>
              <a:rPr lang="en-US" altLang="ko-KR" sz="1000" dirty="0" smtClean="0"/>
              <a:t>, </a:t>
            </a:r>
            <a:r>
              <a:rPr lang="ko-KR" altLang="en-US" sz="1000" dirty="0" smtClean="0"/>
              <a:t>기존 동일 과정 수강자 제외</a:t>
            </a:r>
            <a:endParaRPr lang="en-US" altLang="ko-KR" sz="10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모집인원 총 </a:t>
            </a:r>
            <a:r>
              <a:rPr lang="en-US" altLang="ko-KR" sz="1400" dirty="0" smtClean="0"/>
              <a:t>60</a:t>
            </a:r>
            <a:r>
              <a:rPr lang="ko-KR" altLang="en-US" sz="1400" dirty="0" smtClean="0"/>
              <a:t>명</a:t>
            </a:r>
            <a:r>
              <a:rPr lang="en-US" altLang="ko-KR" sz="1400" dirty="0" smtClean="0"/>
              <a:t>(</a:t>
            </a:r>
            <a:r>
              <a:rPr lang="ko-KR" altLang="en-US" sz="1400" dirty="0" err="1" smtClean="0"/>
              <a:t>트랙별</a:t>
            </a:r>
            <a:r>
              <a:rPr lang="ko-KR" altLang="en-US" sz="1400" dirty="0" smtClean="0"/>
              <a:t> 모집</a:t>
            </a:r>
            <a:r>
              <a:rPr lang="en-US" altLang="ko-KR" sz="1400" dirty="0" smtClean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 smtClean="0"/>
              <a:t>            (</a:t>
            </a:r>
            <a:r>
              <a:rPr lang="ko-KR" altLang="en-US" sz="1400" dirty="0" smtClean="0"/>
              <a:t>트랙</a:t>
            </a:r>
            <a:r>
              <a:rPr lang="en-US" altLang="ko-KR" sz="1400" dirty="0" smtClean="0"/>
              <a:t>1) </a:t>
            </a:r>
            <a:r>
              <a:rPr lang="ko-KR" altLang="en-US" sz="1400" dirty="0" smtClean="0"/>
              <a:t>은행 및 </a:t>
            </a:r>
            <a:r>
              <a:rPr lang="ko-KR" altLang="en-US" sz="1400" dirty="0" err="1" smtClean="0"/>
              <a:t>여신금융업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20</a:t>
            </a:r>
            <a:r>
              <a:rPr lang="ko-KR" altLang="en-US" sz="1400" dirty="0" smtClean="0"/>
              <a:t>명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(</a:t>
            </a:r>
            <a:r>
              <a:rPr lang="ko-KR" altLang="en-US" sz="1400" dirty="0" smtClean="0"/>
              <a:t>트랙</a:t>
            </a:r>
            <a:r>
              <a:rPr lang="en-US" altLang="ko-KR" sz="1400" dirty="0" smtClean="0"/>
              <a:t>2) </a:t>
            </a:r>
            <a:r>
              <a:rPr lang="ko-KR" altLang="en-US" sz="1400" dirty="0" err="1" smtClean="0"/>
              <a:t>금융투자업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30</a:t>
            </a:r>
            <a:r>
              <a:rPr lang="ko-KR" altLang="en-US" sz="1400" dirty="0" smtClean="0"/>
              <a:t>명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(</a:t>
            </a:r>
            <a:r>
              <a:rPr lang="ko-KR" altLang="en-US" sz="1400" dirty="0" smtClean="0"/>
              <a:t>트랙</a:t>
            </a:r>
            <a:r>
              <a:rPr lang="en-US" altLang="ko-KR" sz="1400" dirty="0" smtClean="0"/>
              <a:t>3) </a:t>
            </a:r>
            <a:r>
              <a:rPr lang="ko-KR" altLang="en-US" sz="1400" dirty="0" err="1" smtClean="0">
                <a:solidFill>
                  <a:srgbClr val="FF0000"/>
                </a:solidFill>
              </a:rPr>
              <a:t>금융보험업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10</a:t>
            </a:r>
            <a:r>
              <a:rPr lang="ko-KR" altLang="en-US" sz="1400" dirty="0" smtClean="0"/>
              <a:t>명</a:t>
            </a:r>
            <a:r>
              <a:rPr lang="en-US" altLang="ko-KR" sz="1400" dirty="0" smtClean="0"/>
              <a:t>  </a:t>
            </a:r>
          </a:p>
          <a:p>
            <a:r>
              <a:rPr lang="en-US" altLang="ko-KR" sz="1000" dirty="0" smtClean="0"/>
              <a:t>                </a:t>
            </a:r>
            <a:r>
              <a:rPr lang="en-US" altLang="ko-KR" sz="1000" dirty="0"/>
              <a:t>* </a:t>
            </a:r>
            <a:r>
              <a:rPr lang="ko-KR" altLang="en-US" sz="1000" dirty="0" smtClean="0"/>
              <a:t>최종 선발 및 </a:t>
            </a:r>
            <a:r>
              <a:rPr lang="ko-KR" altLang="en-US" sz="1000" dirty="0" err="1" smtClean="0"/>
              <a:t>트랙별</a:t>
            </a:r>
            <a:r>
              <a:rPr lang="ko-KR" altLang="en-US" sz="1000" dirty="0" smtClean="0"/>
              <a:t> </a:t>
            </a:r>
            <a:r>
              <a:rPr lang="ko-KR" altLang="en-US" sz="1000" dirty="0" err="1" smtClean="0"/>
              <a:t>수강인원은</a:t>
            </a:r>
            <a:r>
              <a:rPr lang="ko-KR" altLang="en-US" sz="1000" dirty="0" smtClean="0"/>
              <a:t> 상황에 따라 변경될 수 있음</a:t>
            </a:r>
            <a:endParaRPr lang="en-US" altLang="ko-KR" sz="1000" dirty="0" smtClean="0"/>
          </a:p>
          <a:p>
            <a:endParaRPr lang="en-US" altLang="ko-KR" sz="1000" dirty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교육기간 </a:t>
            </a:r>
            <a:r>
              <a:rPr lang="ko-KR" altLang="en-US" sz="1400" dirty="0" err="1" smtClean="0"/>
              <a:t>교육구성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온라인 입문</a:t>
            </a:r>
            <a:r>
              <a:rPr lang="en-US" altLang="ko-KR" sz="1400" dirty="0" smtClean="0"/>
              <a:t>(14</a:t>
            </a:r>
            <a:r>
              <a:rPr lang="ko-KR" altLang="en-US" sz="1400" dirty="0" smtClean="0"/>
              <a:t>시간</a:t>
            </a:r>
            <a:r>
              <a:rPr lang="en-US" altLang="ko-KR" sz="1400" dirty="0" smtClean="0"/>
              <a:t>) + </a:t>
            </a:r>
            <a:r>
              <a:rPr lang="ko-KR" altLang="en-US" sz="1400" dirty="0" err="1" smtClean="0"/>
              <a:t>집합교육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60</a:t>
            </a:r>
            <a:r>
              <a:rPr lang="ko-KR" altLang="en-US" sz="1400" dirty="0" smtClean="0"/>
              <a:t>시간 내외</a:t>
            </a:r>
            <a:endParaRPr lang="en-US" altLang="ko-KR" sz="1400" dirty="0" smtClean="0"/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</a:t>
            </a:r>
            <a:r>
              <a:rPr lang="ko-KR" altLang="en-US" sz="1400" dirty="0" err="1" smtClean="0"/>
              <a:t>집합교육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총 </a:t>
            </a:r>
            <a:r>
              <a:rPr lang="en-US" altLang="ko-KR" sz="1400" dirty="0" smtClean="0"/>
              <a:t>60</a:t>
            </a:r>
            <a:r>
              <a:rPr lang="ko-KR" altLang="en-US" sz="1400" dirty="0" smtClean="0"/>
              <a:t>시간 </a:t>
            </a:r>
            <a:r>
              <a:rPr lang="en-US" altLang="ko-KR" sz="1400" dirty="0" smtClean="0"/>
              <a:t>: </a:t>
            </a:r>
            <a:r>
              <a:rPr lang="ko-KR" altLang="en-US" sz="1400" dirty="0" smtClean="0"/>
              <a:t>공통 </a:t>
            </a:r>
            <a:r>
              <a:rPr lang="en-US" altLang="ko-KR" sz="1400" dirty="0" smtClean="0"/>
              <a:t>24hr + </a:t>
            </a:r>
            <a:r>
              <a:rPr lang="ko-KR" altLang="en-US" sz="1400" dirty="0" err="1" smtClean="0"/>
              <a:t>트랙별</a:t>
            </a:r>
            <a:r>
              <a:rPr lang="ko-KR" altLang="en-US" sz="1400" dirty="0" smtClean="0"/>
              <a:t> </a:t>
            </a:r>
            <a:r>
              <a:rPr lang="en-US" altLang="ko-KR" sz="1400" dirty="0" smtClean="0"/>
              <a:t>36hr)</a:t>
            </a:r>
          </a:p>
          <a:p>
            <a:r>
              <a:rPr lang="en-US" altLang="ko-KR" sz="1400" dirty="0"/>
              <a:t> </a:t>
            </a:r>
            <a:r>
              <a:rPr lang="en-US" altLang="ko-KR" sz="1400" dirty="0" smtClean="0"/>
              <a:t>            </a:t>
            </a:r>
            <a:r>
              <a:rPr lang="ko-KR" altLang="en-US" sz="1400" dirty="0" smtClean="0"/>
              <a:t>매주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금</a:t>
            </a:r>
            <a:r>
              <a:rPr lang="en-US" altLang="ko-KR" sz="1400" dirty="0" smtClean="0"/>
              <a:t>(19:00~21:00), </a:t>
            </a:r>
            <a:r>
              <a:rPr lang="ko-KR" altLang="en-US" sz="1400" dirty="0" smtClean="0"/>
              <a:t>토</a:t>
            </a:r>
            <a:r>
              <a:rPr lang="en-US" altLang="ko-KR" sz="1400" dirty="0" smtClean="0"/>
              <a:t>(09:00~13:00)* </a:t>
            </a:r>
          </a:p>
          <a:p>
            <a:r>
              <a:rPr lang="en-US" altLang="ko-KR" sz="1000" dirty="0" smtClean="0"/>
              <a:t>                  * </a:t>
            </a:r>
            <a:r>
              <a:rPr lang="ko-KR" altLang="en-US" sz="1000" dirty="0" smtClean="0"/>
              <a:t>실습 등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교과목 내용에 따라 </a:t>
            </a:r>
            <a:r>
              <a:rPr lang="en-US" altLang="ko-KR" sz="1000" dirty="0" smtClean="0"/>
              <a:t>8</a:t>
            </a:r>
            <a:r>
              <a:rPr lang="ko-KR" altLang="en-US" sz="1000" dirty="0" smtClean="0"/>
              <a:t>시간 교육으로 진행 될 수 있음</a:t>
            </a:r>
            <a:endParaRPr lang="en-US" altLang="ko-KR" sz="1000" dirty="0" smtClean="0"/>
          </a:p>
          <a:p>
            <a:endParaRPr lang="en-US" altLang="ko-KR" sz="1400" dirty="0" smtClean="0"/>
          </a:p>
          <a:p>
            <a:r>
              <a:rPr lang="en-US" altLang="ko-KR" sz="1400" dirty="0" smtClean="0"/>
              <a:t>            </a:t>
            </a:r>
            <a:r>
              <a:rPr lang="ko-KR" altLang="en-US" sz="1400" dirty="0" smtClean="0"/>
              <a:t>교육기간 </a:t>
            </a:r>
            <a:r>
              <a:rPr lang="en-US" altLang="ko-KR" sz="1400" dirty="0" smtClean="0"/>
              <a:t>: </a:t>
            </a:r>
            <a:r>
              <a:rPr lang="en-US" altLang="ko-KR" sz="1400" dirty="0" smtClean="0"/>
              <a:t>2025. 7</a:t>
            </a:r>
            <a:r>
              <a:rPr lang="ko-KR" altLang="en-US" sz="1400" dirty="0" smtClean="0"/>
              <a:t>월</a:t>
            </a:r>
            <a:r>
              <a:rPr lang="en-US" altLang="ko-KR" sz="1400" dirty="0" smtClean="0"/>
              <a:t>~9</a:t>
            </a:r>
            <a:r>
              <a:rPr lang="ko-KR" altLang="en-US" sz="1400" dirty="0" smtClean="0"/>
              <a:t>월</a:t>
            </a:r>
            <a:r>
              <a:rPr lang="en-US" altLang="ko-KR" sz="1400" dirty="0" smtClean="0"/>
              <a:t>(</a:t>
            </a:r>
            <a:r>
              <a:rPr lang="ko-KR" altLang="en-US" sz="1400" dirty="0" smtClean="0"/>
              <a:t>약 </a:t>
            </a:r>
            <a:r>
              <a:rPr lang="en-US" altLang="ko-KR" sz="1400" dirty="0" smtClean="0"/>
              <a:t>9</a:t>
            </a:r>
            <a:r>
              <a:rPr lang="ko-KR" altLang="en-US" sz="1400" dirty="0" smtClean="0"/>
              <a:t>주</a:t>
            </a:r>
            <a:r>
              <a:rPr lang="en-US" altLang="ko-KR" sz="1400" dirty="0" smtClean="0"/>
              <a:t>)</a:t>
            </a:r>
            <a:r>
              <a:rPr lang="en-US" altLang="ko-KR" sz="1050" dirty="0" smtClean="0"/>
              <a:t>(</a:t>
            </a:r>
            <a:r>
              <a:rPr lang="ko-KR" altLang="en-US" sz="1050" dirty="0" smtClean="0"/>
              <a:t>일정은 변경될 수 있음</a:t>
            </a:r>
            <a:r>
              <a:rPr lang="en-US" altLang="ko-KR" sz="1050" dirty="0" smtClean="0"/>
              <a:t>)</a:t>
            </a:r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교육장소 기존과 동일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신청방법 기존과 동일</a:t>
            </a:r>
            <a:endParaRPr lang="en-US" altLang="ko-KR" sz="1400" dirty="0" smtClean="0"/>
          </a:p>
          <a:p>
            <a:endParaRPr lang="en-US" altLang="ko-KR" sz="1400" dirty="0" smtClean="0"/>
          </a:p>
          <a:p>
            <a:r>
              <a:rPr lang="ko-KR" altLang="en-US" sz="1400" dirty="0" smtClean="0"/>
              <a:t>문 의 처  금융투자교육원 담당자</a:t>
            </a:r>
            <a:r>
              <a:rPr lang="en-US" altLang="ko-KR" sz="1400" dirty="0" smtClean="0"/>
              <a:t>: 02-2003-9819, 9884</a:t>
            </a:r>
            <a:endParaRPr lang="en-US" altLang="ko-KR" sz="1400" dirty="0"/>
          </a:p>
          <a:p>
            <a:r>
              <a:rPr lang="en-US" altLang="ko-KR" sz="1400" dirty="0" smtClean="0"/>
              <a:t>             </a:t>
            </a:r>
            <a:r>
              <a:rPr lang="ko-KR" altLang="en-US" sz="1400" dirty="0" smtClean="0"/>
              <a:t>서울시 </a:t>
            </a:r>
            <a:r>
              <a:rPr lang="ko-KR" altLang="en-US" sz="1400" dirty="0" err="1" smtClean="0"/>
              <a:t>금융투자과</a:t>
            </a:r>
            <a:r>
              <a:rPr lang="ko-KR" altLang="en-US" sz="1400" dirty="0" smtClean="0"/>
              <a:t> 담당자</a:t>
            </a:r>
            <a:r>
              <a:rPr lang="en-US" altLang="ko-KR" sz="1400" dirty="0" smtClean="0"/>
              <a:t>: </a:t>
            </a:r>
            <a:r>
              <a:rPr lang="en-US" altLang="ko-KR" sz="1400" dirty="0" smtClean="0"/>
              <a:t>02-2133-5243</a:t>
            </a:r>
            <a:endParaRPr lang="ko-KR" altLang="en-US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4149306" y="60385"/>
            <a:ext cx="4313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err="1" smtClean="0"/>
              <a:t>모집용</a:t>
            </a:r>
            <a:r>
              <a:rPr lang="ko-KR" altLang="en-US" dirty="0" smtClean="0"/>
              <a:t> 포스터</a:t>
            </a:r>
            <a:r>
              <a:rPr lang="en-US" altLang="ko-KR" dirty="0" smtClean="0"/>
              <a:t>(</a:t>
            </a:r>
            <a:r>
              <a:rPr lang="ko-KR" altLang="en-US" dirty="0" smtClean="0"/>
              <a:t>온라인용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758" y="583485"/>
            <a:ext cx="4906735" cy="610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770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07034" y="1733909"/>
            <a:ext cx="11680166" cy="36403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011948"/>
            <a:ext cx="5658116" cy="30842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2886" y="2018581"/>
            <a:ext cx="4825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2025</a:t>
            </a:r>
            <a:r>
              <a:rPr lang="ko-KR" altLang="en-US" dirty="0" smtClean="0">
                <a:solidFill>
                  <a:schemeClr val="bg1"/>
                </a:solidFill>
              </a:rPr>
              <a:t>년 </a:t>
            </a:r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ko-KR" altLang="en-US" dirty="0" smtClean="0">
                <a:solidFill>
                  <a:schemeClr val="bg1"/>
                </a:solidFill>
              </a:rPr>
              <a:t>서울 </a:t>
            </a:r>
            <a:r>
              <a:rPr lang="ko-KR" altLang="en-US" dirty="0" err="1" smtClean="0">
                <a:solidFill>
                  <a:schemeClr val="bg1"/>
                </a:solidFill>
              </a:rPr>
              <a:t>핀테크</a:t>
            </a:r>
            <a:r>
              <a:rPr lang="ko-KR" altLang="en-US" dirty="0" smtClean="0">
                <a:solidFill>
                  <a:schemeClr val="bg1"/>
                </a:solidFill>
              </a:rPr>
              <a:t> 아카데미 교육생 모집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2758" y="3157745"/>
            <a:ext cx="57538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bg1"/>
                </a:solidFill>
              </a:rPr>
              <a:t>모집기간 </a:t>
            </a:r>
            <a:r>
              <a:rPr lang="en-US" altLang="ko-KR" sz="1400" dirty="0" smtClean="0">
                <a:solidFill>
                  <a:schemeClr val="bg1"/>
                </a:solidFill>
              </a:rPr>
              <a:t>: </a:t>
            </a:r>
            <a:r>
              <a:rPr lang="en-US" altLang="ko-KR" sz="1400" dirty="0" smtClean="0">
                <a:solidFill>
                  <a:schemeClr val="bg1"/>
                </a:solidFill>
              </a:rPr>
              <a:t>6/4(</a:t>
            </a:r>
            <a:r>
              <a:rPr lang="ko-KR" altLang="en-US" sz="1400" dirty="0" smtClean="0">
                <a:solidFill>
                  <a:schemeClr val="bg1"/>
                </a:solidFill>
              </a:rPr>
              <a:t>수</a:t>
            </a:r>
            <a:r>
              <a:rPr lang="en-US" altLang="ko-KR" sz="1400" dirty="0" smtClean="0">
                <a:solidFill>
                  <a:schemeClr val="bg1"/>
                </a:solidFill>
              </a:rPr>
              <a:t>)~6/24(</a:t>
            </a:r>
            <a:r>
              <a:rPr lang="ko-KR" altLang="en-US" sz="1400" dirty="0" smtClean="0">
                <a:solidFill>
                  <a:schemeClr val="bg1"/>
                </a:solidFill>
              </a:rPr>
              <a:t>화</a:t>
            </a:r>
            <a:r>
              <a:rPr lang="en-US" altLang="ko-KR" sz="1400" dirty="0" smtClean="0">
                <a:solidFill>
                  <a:schemeClr val="bg1"/>
                </a:solidFill>
              </a:rPr>
              <a:t>) </a:t>
            </a:r>
            <a:r>
              <a:rPr lang="en-US" altLang="ko-KR" sz="1400" dirty="0" smtClean="0">
                <a:solidFill>
                  <a:schemeClr val="bg1"/>
                </a:solidFill>
              </a:rPr>
              <a:t>15:00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bg1"/>
                </a:solidFill>
              </a:rPr>
              <a:t>모집대상 </a:t>
            </a:r>
            <a:r>
              <a:rPr lang="en-US" altLang="ko-KR" sz="1400" dirty="0" smtClean="0">
                <a:solidFill>
                  <a:schemeClr val="bg1"/>
                </a:solidFill>
              </a:rPr>
              <a:t>: </a:t>
            </a:r>
            <a:r>
              <a:rPr lang="ko-KR" altLang="en-US" sz="1400" dirty="0" smtClean="0">
                <a:solidFill>
                  <a:schemeClr val="bg1"/>
                </a:solidFill>
              </a:rPr>
              <a:t>금융</a:t>
            </a:r>
            <a:r>
              <a:rPr lang="en-US" altLang="ko-KR" sz="1400" dirty="0">
                <a:solidFill>
                  <a:schemeClr val="bg1"/>
                </a:solidFill>
              </a:rPr>
              <a:t>·</a:t>
            </a:r>
            <a:r>
              <a:rPr lang="ko-KR" altLang="en-US" sz="1400" dirty="0" err="1" smtClean="0">
                <a:solidFill>
                  <a:schemeClr val="bg1"/>
                </a:solidFill>
              </a:rPr>
              <a:t>핀테크업계</a:t>
            </a:r>
            <a:r>
              <a:rPr lang="ko-KR" altLang="en-US" sz="1400" dirty="0" smtClean="0">
                <a:solidFill>
                  <a:schemeClr val="bg1"/>
                </a:solidFill>
              </a:rPr>
              <a:t> 종사자 및  </a:t>
            </a:r>
            <a:r>
              <a:rPr lang="ko-KR" altLang="en-US" sz="1400" dirty="0" smtClean="0">
                <a:solidFill>
                  <a:schemeClr val="bg1"/>
                </a:solidFill>
              </a:rPr>
              <a:t>관심 있는 대학생</a:t>
            </a:r>
            <a:r>
              <a:rPr lang="en-US" altLang="ko-KR" sz="1400" dirty="0" smtClean="0">
                <a:solidFill>
                  <a:schemeClr val="bg1"/>
                </a:solidFill>
              </a:rPr>
              <a:t>, </a:t>
            </a:r>
            <a:endParaRPr lang="en-US" altLang="ko-KR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chemeClr val="bg1"/>
                </a:solidFill>
              </a:rPr>
              <a:t> </a:t>
            </a:r>
            <a:r>
              <a:rPr lang="en-US" altLang="ko-KR" sz="1400" dirty="0" smtClean="0">
                <a:solidFill>
                  <a:schemeClr val="bg1"/>
                </a:solidFill>
              </a:rPr>
              <a:t>             </a:t>
            </a:r>
            <a:r>
              <a:rPr lang="ko-KR" altLang="en-US" sz="1400" dirty="0" err="1" smtClean="0">
                <a:solidFill>
                  <a:schemeClr val="bg1"/>
                </a:solidFill>
              </a:rPr>
              <a:t>취업준비생</a:t>
            </a:r>
            <a:r>
              <a:rPr lang="en-US" altLang="ko-KR" sz="1400" dirty="0" smtClean="0">
                <a:solidFill>
                  <a:schemeClr val="bg1"/>
                </a:solidFill>
              </a:rPr>
              <a:t>, </a:t>
            </a:r>
            <a:r>
              <a:rPr lang="ko-KR" altLang="en-US" sz="1400" dirty="0" smtClean="0">
                <a:solidFill>
                  <a:schemeClr val="bg1"/>
                </a:solidFill>
              </a:rPr>
              <a:t>직장인 등</a:t>
            </a:r>
            <a:endParaRPr lang="en-US" altLang="ko-KR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bg1"/>
                </a:solidFill>
              </a:rPr>
              <a:t>모집인원 </a:t>
            </a:r>
            <a:r>
              <a:rPr lang="en-US" altLang="ko-KR" sz="1400" dirty="0" smtClean="0">
                <a:solidFill>
                  <a:schemeClr val="bg1"/>
                </a:solidFill>
              </a:rPr>
              <a:t>: 60</a:t>
            </a:r>
            <a:r>
              <a:rPr lang="ko-KR" altLang="en-US" sz="1400" dirty="0" smtClean="0">
                <a:solidFill>
                  <a:schemeClr val="bg1"/>
                </a:solidFill>
              </a:rPr>
              <a:t>명 </a:t>
            </a:r>
            <a:r>
              <a:rPr lang="en-US" altLang="ko-KR" sz="1400" dirty="0" smtClean="0">
                <a:solidFill>
                  <a:schemeClr val="bg1"/>
                </a:solidFill>
              </a:rPr>
              <a:t>(</a:t>
            </a:r>
            <a:r>
              <a:rPr lang="ko-KR" altLang="en-US" sz="1400" dirty="0" smtClean="0">
                <a:solidFill>
                  <a:schemeClr val="bg1"/>
                </a:solidFill>
              </a:rPr>
              <a:t>신청자 대상 선발 후 대상자 공지</a:t>
            </a:r>
            <a:r>
              <a:rPr lang="en-US" altLang="ko-KR" sz="1400" dirty="0" smtClean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bg1"/>
                </a:solidFill>
              </a:rPr>
              <a:t>교육기간 </a:t>
            </a:r>
            <a:r>
              <a:rPr lang="en-US" altLang="ko-KR" sz="1400" dirty="0" smtClean="0">
                <a:solidFill>
                  <a:schemeClr val="bg1"/>
                </a:solidFill>
              </a:rPr>
              <a:t>: 7</a:t>
            </a:r>
            <a:r>
              <a:rPr lang="ko-KR" altLang="en-US" sz="1400" dirty="0" smtClean="0">
                <a:solidFill>
                  <a:schemeClr val="bg1"/>
                </a:solidFill>
              </a:rPr>
              <a:t>월 </a:t>
            </a:r>
            <a:r>
              <a:rPr lang="en-US" altLang="ko-KR" sz="1400" dirty="0" smtClean="0">
                <a:solidFill>
                  <a:schemeClr val="bg1"/>
                </a:solidFill>
              </a:rPr>
              <a:t>~ 9</a:t>
            </a:r>
            <a:r>
              <a:rPr lang="ko-KR" altLang="en-US" sz="1400" dirty="0" smtClean="0">
                <a:solidFill>
                  <a:schemeClr val="bg1"/>
                </a:solidFill>
              </a:rPr>
              <a:t>월 </a:t>
            </a:r>
            <a:r>
              <a:rPr lang="en-US" altLang="ko-KR" sz="1400" dirty="0" smtClean="0">
                <a:solidFill>
                  <a:schemeClr val="bg1"/>
                </a:solidFill>
              </a:rPr>
              <a:t>(9</a:t>
            </a:r>
            <a:r>
              <a:rPr lang="ko-KR" altLang="en-US" sz="1400" dirty="0" smtClean="0">
                <a:solidFill>
                  <a:schemeClr val="bg1"/>
                </a:solidFill>
              </a:rPr>
              <a:t>주</a:t>
            </a:r>
            <a:r>
              <a:rPr lang="en-US" altLang="ko-KR" sz="1400" dirty="0" smtClean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bg1"/>
                </a:solidFill>
              </a:rPr>
              <a:t>교육시간 </a:t>
            </a:r>
            <a:r>
              <a:rPr lang="en-US" altLang="ko-KR" sz="1400" dirty="0" smtClean="0">
                <a:solidFill>
                  <a:schemeClr val="bg1"/>
                </a:solidFill>
              </a:rPr>
              <a:t>: 74</a:t>
            </a:r>
            <a:r>
              <a:rPr lang="ko-KR" altLang="en-US" sz="1400" dirty="0" smtClean="0">
                <a:solidFill>
                  <a:schemeClr val="bg1"/>
                </a:solidFill>
              </a:rPr>
              <a:t>시간 내외</a:t>
            </a:r>
            <a:r>
              <a:rPr lang="en-US" altLang="ko-KR" sz="1400" dirty="0" smtClean="0">
                <a:solidFill>
                  <a:schemeClr val="bg1"/>
                </a:solidFill>
              </a:rPr>
              <a:t>(</a:t>
            </a:r>
            <a:r>
              <a:rPr lang="ko-KR" altLang="en-US" sz="1400" dirty="0" smtClean="0">
                <a:solidFill>
                  <a:schemeClr val="bg1"/>
                </a:solidFill>
              </a:rPr>
              <a:t>이러닝 </a:t>
            </a:r>
            <a:r>
              <a:rPr lang="en-US" altLang="ko-KR" sz="1400" dirty="0" smtClean="0">
                <a:solidFill>
                  <a:schemeClr val="bg1"/>
                </a:solidFill>
              </a:rPr>
              <a:t>14hr, </a:t>
            </a:r>
            <a:r>
              <a:rPr lang="ko-KR" altLang="en-US" sz="1400" dirty="0" smtClean="0">
                <a:solidFill>
                  <a:schemeClr val="bg1"/>
                </a:solidFill>
              </a:rPr>
              <a:t>집합 </a:t>
            </a:r>
            <a:r>
              <a:rPr lang="en-US" altLang="ko-KR" sz="1400" dirty="0" smtClean="0">
                <a:solidFill>
                  <a:schemeClr val="bg1"/>
                </a:solidFill>
              </a:rPr>
              <a:t>60hr)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2581" y="317616"/>
            <a:ext cx="5106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금융투자교육원 홈페이지 메인</a:t>
            </a:r>
            <a:r>
              <a:rPr lang="en-US" altLang="ko-KR" dirty="0" smtClean="0"/>
              <a:t> </a:t>
            </a:r>
            <a:r>
              <a:rPr lang="ko-KR" altLang="en-US" dirty="0" smtClean="0"/>
              <a:t>배너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2708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50499" y="871267"/>
            <a:ext cx="3441940" cy="20358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2025</a:t>
            </a:r>
            <a:r>
              <a:rPr lang="ko-KR" altLang="en-US" dirty="0" smtClean="0"/>
              <a:t>년</a:t>
            </a:r>
            <a:endParaRPr lang="en-US" altLang="ko-KR" dirty="0" smtClean="0"/>
          </a:p>
          <a:p>
            <a:r>
              <a:rPr lang="ko-KR" altLang="en-US" dirty="0" smtClean="0"/>
              <a:t>서울 </a:t>
            </a:r>
            <a:r>
              <a:rPr lang="ko-KR" altLang="en-US" dirty="0" err="1" smtClean="0"/>
              <a:t>핀테크</a:t>
            </a:r>
            <a:r>
              <a:rPr lang="ko-KR" altLang="en-US" dirty="0" smtClean="0"/>
              <a:t> 아카데미 </a:t>
            </a:r>
            <a:endParaRPr lang="en-US" altLang="ko-KR" dirty="0" smtClean="0"/>
          </a:p>
          <a:p>
            <a:r>
              <a:rPr lang="ko-KR" altLang="en-US" dirty="0" smtClean="0"/>
              <a:t>교육생 모집 </a:t>
            </a:r>
            <a:r>
              <a:rPr lang="en-US" altLang="ko-KR" dirty="0" smtClean="0"/>
              <a:t>(~ </a:t>
            </a:r>
            <a:r>
              <a:rPr lang="en-US" altLang="ko-KR" dirty="0" smtClean="0"/>
              <a:t>6.24</a:t>
            </a:r>
            <a:r>
              <a:rPr lang="ko-KR" altLang="en-US" dirty="0" smtClean="0"/>
              <a:t>까지</a:t>
            </a:r>
            <a:r>
              <a:rPr lang="en-US" altLang="ko-KR" dirty="0" smtClean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7969" y="257232"/>
            <a:ext cx="34448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3. </a:t>
            </a:r>
            <a:r>
              <a:rPr lang="ko-KR" altLang="en-US" dirty="0" smtClean="0"/>
              <a:t>금융투자협회 홈페이지 배너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1338" y="3151804"/>
            <a:ext cx="5883901" cy="3610065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3011338" y="5201728"/>
            <a:ext cx="2250775" cy="14751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417689" y="686601"/>
            <a:ext cx="144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360×200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1464" y="1055933"/>
            <a:ext cx="3429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884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94007" y="222726"/>
            <a:ext cx="619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4. </a:t>
            </a:r>
            <a:r>
              <a:rPr lang="ko-KR" altLang="en-US" dirty="0" smtClean="0"/>
              <a:t>금융감독원 홈페이지 및 </a:t>
            </a:r>
            <a:r>
              <a:rPr lang="ko-KR" altLang="en-US" dirty="0" err="1" smtClean="0"/>
              <a:t>파인사이트</a:t>
            </a:r>
            <a:r>
              <a:rPr lang="ko-KR" altLang="en-US" dirty="0" smtClean="0"/>
              <a:t> 배너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845390" y="1784888"/>
            <a:ext cx="3441940" cy="20358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2025</a:t>
            </a:r>
            <a:r>
              <a:rPr lang="ko-KR" altLang="en-US" dirty="0" smtClean="0"/>
              <a:t>년</a:t>
            </a:r>
            <a:endParaRPr lang="en-US" altLang="ko-KR" dirty="0" smtClean="0"/>
          </a:p>
          <a:p>
            <a:r>
              <a:rPr lang="ko-KR" altLang="en-US" dirty="0" smtClean="0"/>
              <a:t>서울 </a:t>
            </a:r>
            <a:r>
              <a:rPr lang="ko-KR" altLang="en-US" dirty="0" err="1" smtClean="0"/>
              <a:t>핀테크</a:t>
            </a:r>
            <a:r>
              <a:rPr lang="ko-KR" altLang="en-US" dirty="0" smtClean="0"/>
              <a:t> 아카데미 </a:t>
            </a:r>
            <a:endParaRPr lang="en-US" altLang="ko-KR" dirty="0" smtClean="0"/>
          </a:p>
          <a:p>
            <a:r>
              <a:rPr lang="ko-KR" altLang="en-US" dirty="0" smtClean="0"/>
              <a:t>교육생 모집 </a:t>
            </a:r>
            <a:r>
              <a:rPr lang="en-US" altLang="ko-KR" dirty="0" smtClean="0"/>
              <a:t>(~ </a:t>
            </a:r>
            <a:r>
              <a:rPr lang="en-US" altLang="ko-KR" dirty="0" smtClean="0"/>
              <a:t>6. 24</a:t>
            </a:r>
            <a:r>
              <a:rPr lang="ko-KR" altLang="en-US" dirty="0" smtClean="0"/>
              <a:t>까지</a:t>
            </a:r>
            <a:r>
              <a:rPr lang="en-US" altLang="ko-KR" dirty="0" smtClean="0"/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1960" y="86186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/>
              <a:t>1) </a:t>
            </a:r>
            <a:r>
              <a:rPr lang="ko-KR" altLang="en-US" dirty="0" err="1" smtClean="0"/>
              <a:t>파인사이트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267755" y="922245"/>
            <a:ext cx="3480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2) </a:t>
            </a:r>
            <a:r>
              <a:rPr lang="ko-KR" altLang="en-US" dirty="0" smtClean="0"/>
              <a:t>감독원 홈페이지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4804913" y="1515014"/>
            <a:ext cx="6660256" cy="2305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133" y="1799686"/>
            <a:ext cx="2101973" cy="11457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50765" y="1799686"/>
            <a:ext cx="4825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2025</a:t>
            </a:r>
            <a:r>
              <a:rPr lang="ko-KR" altLang="en-US" dirty="0" smtClean="0">
                <a:solidFill>
                  <a:schemeClr val="bg1"/>
                </a:solidFill>
              </a:rPr>
              <a:t>년 </a:t>
            </a:r>
            <a:endParaRPr lang="en-US" altLang="ko-KR" dirty="0" smtClean="0">
              <a:solidFill>
                <a:schemeClr val="bg1"/>
              </a:solidFill>
            </a:endParaRPr>
          </a:p>
          <a:p>
            <a:r>
              <a:rPr lang="ko-KR" altLang="en-US" dirty="0" smtClean="0">
                <a:solidFill>
                  <a:schemeClr val="bg1"/>
                </a:solidFill>
              </a:rPr>
              <a:t>서울 </a:t>
            </a:r>
            <a:r>
              <a:rPr lang="ko-KR" altLang="en-US" dirty="0" err="1" smtClean="0">
                <a:solidFill>
                  <a:schemeClr val="bg1"/>
                </a:solidFill>
              </a:rPr>
              <a:t>핀테크</a:t>
            </a:r>
            <a:r>
              <a:rPr lang="ko-KR" altLang="en-US" dirty="0" smtClean="0">
                <a:solidFill>
                  <a:schemeClr val="bg1"/>
                </a:solidFill>
              </a:rPr>
              <a:t> 아카데미 교육생 모집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06736" y="2938850"/>
            <a:ext cx="6727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bg1"/>
                </a:solidFill>
              </a:rPr>
              <a:t>모집기간 </a:t>
            </a:r>
            <a:r>
              <a:rPr lang="en-US" altLang="ko-KR" sz="1400" dirty="0" smtClean="0">
                <a:solidFill>
                  <a:schemeClr val="bg1"/>
                </a:solidFill>
              </a:rPr>
              <a:t>: </a:t>
            </a:r>
            <a:r>
              <a:rPr lang="en-US" altLang="ko-KR" sz="1400" dirty="0" smtClean="0">
                <a:solidFill>
                  <a:schemeClr val="bg1"/>
                </a:solidFill>
              </a:rPr>
              <a:t>6/4(</a:t>
            </a:r>
            <a:r>
              <a:rPr lang="ko-KR" altLang="en-US" sz="1400" dirty="0" smtClean="0">
                <a:solidFill>
                  <a:schemeClr val="bg1"/>
                </a:solidFill>
              </a:rPr>
              <a:t>수</a:t>
            </a:r>
            <a:r>
              <a:rPr lang="en-US" altLang="ko-KR" sz="1400" dirty="0" smtClean="0">
                <a:solidFill>
                  <a:schemeClr val="bg1"/>
                </a:solidFill>
              </a:rPr>
              <a:t>)~6/24(</a:t>
            </a:r>
            <a:r>
              <a:rPr lang="ko-KR" altLang="en-US" sz="1400" dirty="0" smtClean="0">
                <a:solidFill>
                  <a:schemeClr val="bg1"/>
                </a:solidFill>
              </a:rPr>
              <a:t>화</a:t>
            </a:r>
            <a:r>
              <a:rPr lang="en-US" altLang="ko-KR" sz="1400" dirty="0" smtClean="0">
                <a:solidFill>
                  <a:schemeClr val="bg1"/>
                </a:solidFill>
              </a:rPr>
              <a:t>) </a:t>
            </a:r>
            <a:r>
              <a:rPr lang="en-US" altLang="ko-KR" sz="1400" dirty="0" smtClean="0">
                <a:solidFill>
                  <a:schemeClr val="bg1"/>
                </a:solidFill>
              </a:rPr>
              <a:t>15:00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solidFill>
                  <a:schemeClr val="bg1"/>
                </a:solidFill>
              </a:rPr>
              <a:t>모집대상 </a:t>
            </a:r>
            <a:r>
              <a:rPr lang="en-US" altLang="ko-KR" sz="1400" dirty="0" smtClean="0">
                <a:solidFill>
                  <a:schemeClr val="bg1"/>
                </a:solidFill>
              </a:rPr>
              <a:t>: </a:t>
            </a:r>
            <a:r>
              <a:rPr lang="ko-KR" altLang="en-US" sz="1400" dirty="0" smtClean="0">
                <a:solidFill>
                  <a:schemeClr val="bg1"/>
                </a:solidFill>
              </a:rPr>
              <a:t>금융 </a:t>
            </a:r>
            <a:r>
              <a:rPr lang="ko-KR" altLang="en-US" sz="1400" dirty="0" err="1" smtClean="0">
                <a:solidFill>
                  <a:schemeClr val="bg1"/>
                </a:solidFill>
              </a:rPr>
              <a:t>핀테크</a:t>
            </a:r>
            <a:r>
              <a:rPr lang="ko-KR" altLang="en-US" sz="1400" dirty="0" smtClean="0">
                <a:solidFill>
                  <a:schemeClr val="bg1"/>
                </a:solidFill>
              </a:rPr>
              <a:t> 업계 종사자</a:t>
            </a:r>
            <a:r>
              <a:rPr lang="en-US" altLang="ko-KR" sz="1400" dirty="0" smtClean="0">
                <a:solidFill>
                  <a:schemeClr val="bg1"/>
                </a:solidFill>
              </a:rPr>
              <a:t>, </a:t>
            </a:r>
            <a:r>
              <a:rPr lang="ko-KR" altLang="en-US" sz="1400" dirty="0" smtClean="0">
                <a:solidFill>
                  <a:schemeClr val="bg1"/>
                </a:solidFill>
              </a:rPr>
              <a:t>관심 </a:t>
            </a:r>
            <a:r>
              <a:rPr lang="ko-KR" altLang="en-US" sz="1400" dirty="0" smtClean="0">
                <a:solidFill>
                  <a:schemeClr val="bg1"/>
                </a:solidFill>
              </a:rPr>
              <a:t>있는 대학생</a:t>
            </a:r>
            <a:r>
              <a:rPr lang="en-US" altLang="ko-KR" sz="1400" dirty="0" smtClean="0">
                <a:solidFill>
                  <a:schemeClr val="bg1"/>
                </a:solidFill>
              </a:rPr>
              <a:t>, </a:t>
            </a:r>
            <a:r>
              <a:rPr lang="ko-KR" altLang="en-US" sz="1400" dirty="0" err="1" smtClean="0">
                <a:solidFill>
                  <a:schemeClr val="bg1"/>
                </a:solidFill>
              </a:rPr>
              <a:t>취업준비생</a:t>
            </a:r>
            <a:r>
              <a:rPr lang="en-US" altLang="ko-KR" sz="1400" dirty="0" smtClean="0">
                <a:solidFill>
                  <a:schemeClr val="bg1"/>
                </a:solidFill>
              </a:rPr>
              <a:t>, </a:t>
            </a:r>
            <a:r>
              <a:rPr lang="ko-KR" altLang="en-US" sz="1400" dirty="0" smtClean="0">
                <a:solidFill>
                  <a:schemeClr val="bg1"/>
                </a:solidFill>
              </a:rPr>
              <a:t>직장인 등</a:t>
            </a:r>
            <a:endParaRPr lang="en-US" altLang="ko-KR" sz="1400" dirty="0" smtClean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23691" y="6385151"/>
            <a:ext cx="144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258×132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7876815" y="6488668"/>
            <a:ext cx="1449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580×240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883" y="4202668"/>
            <a:ext cx="5524500" cy="2286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9584" y="4717018"/>
            <a:ext cx="245745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377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5831"/>
            <a:ext cx="6901132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과정명</a:t>
            </a:r>
            <a:r>
              <a:rPr lang="ko-KR" altLang="en-US" sz="1400" dirty="0"/>
              <a:t> </a:t>
            </a:r>
            <a:r>
              <a:rPr lang="en-US" altLang="ko-KR" sz="1400" dirty="0"/>
              <a:t>2025</a:t>
            </a:r>
            <a:r>
              <a:rPr lang="ko-KR" altLang="en-US" sz="1400" dirty="0"/>
              <a:t>년 서울 </a:t>
            </a:r>
            <a:r>
              <a:rPr lang="ko-KR" altLang="en-US" sz="1400" dirty="0" err="1"/>
              <a:t>핀테크</a:t>
            </a:r>
            <a:r>
              <a:rPr lang="ko-KR" altLang="en-US" sz="1400" dirty="0"/>
              <a:t> 아카데미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 err="1"/>
              <a:t>과정특징</a:t>
            </a:r>
            <a:r>
              <a:rPr lang="ko-KR" altLang="en-US" sz="1400" dirty="0"/>
              <a:t> 기존과 동일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 err="1"/>
              <a:t>선발일정</a:t>
            </a:r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접수기간 </a:t>
            </a:r>
            <a:r>
              <a:rPr lang="en-US" altLang="ko-KR" sz="1400" dirty="0"/>
              <a:t>: 2025. 6. 4(</a:t>
            </a:r>
            <a:r>
              <a:rPr lang="ko-KR" altLang="en-US" sz="1400" dirty="0"/>
              <a:t>수</a:t>
            </a:r>
            <a:r>
              <a:rPr lang="en-US" altLang="ko-KR" sz="1400" dirty="0"/>
              <a:t>) ~ 6. 24(</a:t>
            </a:r>
            <a:r>
              <a:rPr lang="ko-KR" altLang="en-US" sz="1400" dirty="0"/>
              <a:t>화</a:t>
            </a:r>
            <a:r>
              <a:rPr lang="en-US" altLang="ko-KR" sz="1400" dirty="0"/>
              <a:t>) 15:00</a:t>
            </a:r>
          </a:p>
          <a:p>
            <a:r>
              <a:rPr lang="en-US" altLang="ko-KR" sz="1400" dirty="0"/>
              <a:t>             - </a:t>
            </a:r>
            <a:r>
              <a:rPr lang="ko-KR" altLang="en-US" sz="1400" dirty="0"/>
              <a:t>합격자 통보 </a:t>
            </a:r>
            <a:r>
              <a:rPr lang="en-US" altLang="ko-KR" sz="1400" dirty="0"/>
              <a:t>: 2023. 6. 30(</a:t>
            </a:r>
            <a:r>
              <a:rPr lang="ko-KR" altLang="en-US" sz="1400" dirty="0"/>
              <a:t>월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             - </a:t>
            </a:r>
            <a:r>
              <a:rPr lang="ko-KR" altLang="en-US" sz="1400" dirty="0"/>
              <a:t>수강료</a:t>
            </a:r>
            <a:r>
              <a:rPr lang="en-US" altLang="ko-KR" sz="1400" dirty="0"/>
              <a:t>(</a:t>
            </a:r>
            <a:r>
              <a:rPr lang="ko-KR" altLang="en-US" sz="1400" dirty="0"/>
              <a:t>예치금</a:t>
            </a:r>
            <a:r>
              <a:rPr lang="en-US" altLang="ko-KR" sz="1400" dirty="0"/>
              <a:t>) : 40</a:t>
            </a:r>
            <a:r>
              <a:rPr lang="ko-KR" altLang="en-US" sz="1400" dirty="0"/>
              <a:t>만원 </a:t>
            </a:r>
            <a:r>
              <a:rPr lang="en-US" altLang="ko-KR" sz="1400" dirty="0"/>
              <a:t>(</a:t>
            </a:r>
            <a:r>
              <a:rPr lang="ko-KR" altLang="en-US" sz="1400" dirty="0"/>
              <a:t>수료 시 전액 환급</a:t>
            </a:r>
            <a:r>
              <a:rPr lang="en-US" altLang="ko-KR" sz="1400" dirty="0"/>
              <a:t>)</a:t>
            </a:r>
          </a:p>
          <a:p>
            <a:r>
              <a:rPr lang="en-US" altLang="ko-KR" sz="1000" dirty="0"/>
              <a:t>                  * </a:t>
            </a:r>
            <a:r>
              <a:rPr lang="ko-KR" altLang="en-US" sz="1000" dirty="0"/>
              <a:t>서울시 홈페이지 및 합격자 개별 통보 예정</a:t>
            </a:r>
            <a:r>
              <a:rPr lang="en-US" altLang="ko-KR" sz="1000" dirty="0"/>
              <a:t> (</a:t>
            </a:r>
            <a:r>
              <a:rPr lang="ko-KR" altLang="en-US" sz="1000" dirty="0"/>
              <a:t>상기 일정은 변경될 수 있음</a:t>
            </a:r>
            <a:r>
              <a:rPr lang="en-US" altLang="ko-KR" sz="1000" dirty="0"/>
              <a:t>)</a:t>
            </a:r>
          </a:p>
          <a:p>
            <a:r>
              <a:rPr lang="en-US" altLang="ko-KR" sz="1400" dirty="0"/>
              <a:t>    </a:t>
            </a:r>
          </a:p>
          <a:p>
            <a:r>
              <a:rPr lang="ko-KR" altLang="en-US" sz="1400" dirty="0"/>
              <a:t>모집대상 금융 </a:t>
            </a:r>
            <a:r>
              <a:rPr lang="ko-KR" altLang="en-US" sz="1400" dirty="0" err="1"/>
              <a:t>핀테크업계</a:t>
            </a:r>
            <a:r>
              <a:rPr lang="ko-KR" altLang="en-US" sz="1400" dirty="0"/>
              <a:t> 종사자</a:t>
            </a:r>
            <a:r>
              <a:rPr lang="en-US" altLang="ko-KR" sz="1400" dirty="0"/>
              <a:t>,</a:t>
            </a:r>
            <a:r>
              <a:rPr lang="ko-KR" altLang="en-US" sz="1400" dirty="0"/>
              <a:t> 이하 기존과 동일</a:t>
            </a:r>
            <a:endParaRPr lang="en-US" altLang="ko-KR" sz="1400" dirty="0"/>
          </a:p>
          <a:p>
            <a:r>
              <a:rPr lang="en-US" altLang="ko-KR" sz="1000" dirty="0"/>
              <a:t>                 * </a:t>
            </a:r>
            <a:r>
              <a:rPr lang="ko-KR" altLang="en-US" sz="1000" dirty="0"/>
              <a:t>단</a:t>
            </a:r>
            <a:r>
              <a:rPr lang="en-US" altLang="ko-KR" sz="1000" dirty="0"/>
              <a:t>, </a:t>
            </a:r>
            <a:r>
              <a:rPr lang="ko-KR" altLang="en-US" sz="1000" dirty="0"/>
              <a:t>기존 동일 과정 수강자 제외</a:t>
            </a:r>
            <a:endParaRPr lang="en-US" altLang="ko-KR" sz="1000" dirty="0"/>
          </a:p>
          <a:p>
            <a:endParaRPr lang="en-US" altLang="ko-KR" sz="1400" dirty="0"/>
          </a:p>
          <a:p>
            <a:r>
              <a:rPr lang="ko-KR" altLang="en-US" sz="1400" dirty="0"/>
              <a:t>모집인원 총 </a:t>
            </a:r>
            <a:r>
              <a:rPr lang="en-US" altLang="ko-KR" sz="1400" dirty="0"/>
              <a:t>60</a:t>
            </a:r>
            <a:r>
              <a:rPr lang="ko-KR" altLang="en-US" sz="1400" dirty="0"/>
              <a:t>명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트랙별</a:t>
            </a:r>
            <a:r>
              <a:rPr lang="ko-KR" altLang="en-US" sz="1400" dirty="0"/>
              <a:t> 모집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en-US" altLang="ko-KR" sz="1400" dirty="0"/>
              <a:t>            (</a:t>
            </a:r>
            <a:r>
              <a:rPr lang="ko-KR" altLang="en-US" sz="1400" dirty="0"/>
              <a:t>트랙</a:t>
            </a:r>
            <a:r>
              <a:rPr lang="en-US" altLang="ko-KR" sz="1400" dirty="0"/>
              <a:t>1) </a:t>
            </a:r>
            <a:r>
              <a:rPr lang="ko-KR" altLang="en-US" sz="1400" dirty="0"/>
              <a:t>은행 및 </a:t>
            </a:r>
            <a:r>
              <a:rPr lang="ko-KR" altLang="en-US" sz="1400" dirty="0" err="1"/>
              <a:t>여신금융업</a:t>
            </a:r>
            <a:r>
              <a:rPr lang="ko-KR" altLang="en-US" sz="1400" dirty="0"/>
              <a:t> </a:t>
            </a:r>
            <a:r>
              <a:rPr lang="en-US" altLang="ko-KR" sz="1400" dirty="0"/>
              <a:t>: 20</a:t>
            </a:r>
            <a:r>
              <a:rPr lang="ko-KR" altLang="en-US" sz="1400" dirty="0"/>
              <a:t>명</a:t>
            </a:r>
            <a:endParaRPr lang="en-US" altLang="ko-KR" sz="1400" dirty="0"/>
          </a:p>
          <a:p>
            <a:r>
              <a:rPr lang="en-US" altLang="ko-KR" sz="1400" dirty="0"/>
              <a:t>            (</a:t>
            </a:r>
            <a:r>
              <a:rPr lang="ko-KR" altLang="en-US" sz="1400" dirty="0"/>
              <a:t>트랙</a:t>
            </a:r>
            <a:r>
              <a:rPr lang="en-US" altLang="ko-KR" sz="1400" dirty="0"/>
              <a:t>2) </a:t>
            </a:r>
            <a:r>
              <a:rPr lang="ko-KR" altLang="en-US" sz="1400" dirty="0" err="1"/>
              <a:t>금융투자업</a:t>
            </a:r>
            <a:r>
              <a:rPr lang="ko-KR" altLang="en-US" sz="1400" dirty="0"/>
              <a:t> </a:t>
            </a:r>
            <a:r>
              <a:rPr lang="en-US" altLang="ko-KR" sz="1400" dirty="0"/>
              <a:t>: 30</a:t>
            </a:r>
            <a:r>
              <a:rPr lang="ko-KR" altLang="en-US" sz="1400" dirty="0"/>
              <a:t>명</a:t>
            </a:r>
            <a:endParaRPr lang="en-US" altLang="ko-KR" sz="1400" dirty="0"/>
          </a:p>
          <a:p>
            <a:r>
              <a:rPr lang="en-US" altLang="ko-KR" sz="1400" dirty="0"/>
              <a:t>            (</a:t>
            </a:r>
            <a:r>
              <a:rPr lang="ko-KR" altLang="en-US" sz="1400" dirty="0"/>
              <a:t>트랙</a:t>
            </a:r>
            <a:r>
              <a:rPr lang="en-US" altLang="ko-KR" sz="1400" dirty="0"/>
              <a:t>3) </a:t>
            </a:r>
            <a:r>
              <a:rPr lang="ko-KR" altLang="en-US" sz="1400" dirty="0" err="1"/>
              <a:t>금융보험업</a:t>
            </a:r>
            <a:r>
              <a:rPr lang="ko-KR" altLang="en-US" sz="1400" dirty="0"/>
              <a:t> </a:t>
            </a:r>
            <a:r>
              <a:rPr lang="en-US" altLang="ko-KR" sz="1400" dirty="0"/>
              <a:t>: 10</a:t>
            </a:r>
            <a:r>
              <a:rPr lang="ko-KR" altLang="en-US" sz="1400" dirty="0"/>
              <a:t>명</a:t>
            </a:r>
            <a:r>
              <a:rPr lang="en-US" altLang="ko-KR" sz="1400" dirty="0"/>
              <a:t>  </a:t>
            </a:r>
          </a:p>
          <a:p>
            <a:r>
              <a:rPr lang="en-US" altLang="ko-KR" sz="1000" dirty="0"/>
              <a:t>                * </a:t>
            </a:r>
            <a:r>
              <a:rPr lang="ko-KR" altLang="en-US" sz="1000" dirty="0"/>
              <a:t>최종 선발 및 </a:t>
            </a:r>
            <a:r>
              <a:rPr lang="ko-KR" altLang="en-US" sz="1000" dirty="0" err="1"/>
              <a:t>트랙별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수강인원은</a:t>
            </a:r>
            <a:r>
              <a:rPr lang="ko-KR" altLang="en-US" sz="1000" dirty="0"/>
              <a:t> 상황에 따라 변경될 수 있음</a:t>
            </a:r>
            <a:endParaRPr lang="en-US" altLang="ko-KR" sz="1000" dirty="0"/>
          </a:p>
          <a:p>
            <a:endParaRPr lang="en-US" altLang="ko-KR" sz="1000" dirty="0"/>
          </a:p>
          <a:p>
            <a:endParaRPr lang="en-US" altLang="ko-KR" sz="1400" dirty="0"/>
          </a:p>
          <a:p>
            <a:r>
              <a:rPr lang="ko-KR" altLang="en-US" sz="1400" dirty="0"/>
              <a:t>교육기간 </a:t>
            </a:r>
            <a:r>
              <a:rPr lang="ko-KR" altLang="en-US" sz="1400" dirty="0" err="1"/>
              <a:t>교육구성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온라인 입문</a:t>
            </a:r>
            <a:r>
              <a:rPr lang="en-US" altLang="ko-KR" sz="1400" dirty="0"/>
              <a:t>(14</a:t>
            </a:r>
            <a:r>
              <a:rPr lang="ko-KR" altLang="en-US" sz="1400" dirty="0"/>
              <a:t>시간</a:t>
            </a:r>
            <a:r>
              <a:rPr lang="en-US" altLang="ko-KR" sz="1400" dirty="0"/>
              <a:t>) + </a:t>
            </a:r>
            <a:r>
              <a:rPr lang="ko-KR" altLang="en-US" sz="1400" dirty="0" err="1"/>
              <a:t>집합교육</a:t>
            </a:r>
            <a:r>
              <a:rPr lang="ko-KR" altLang="en-US" sz="1400" dirty="0"/>
              <a:t> </a:t>
            </a:r>
            <a:r>
              <a:rPr lang="en-US" altLang="ko-KR" sz="1400" dirty="0"/>
              <a:t>60</a:t>
            </a:r>
            <a:r>
              <a:rPr lang="ko-KR" altLang="en-US" sz="1400" dirty="0"/>
              <a:t>시간 내외</a:t>
            </a:r>
            <a:endParaRPr lang="en-US" altLang="ko-KR" sz="1400" dirty="0"/>
          </a:p>
          <a:p>
            <a:r>
              <a:rPr lang="en-US" altLang="ko-KR" sz="1400" dirty="0"/>
              <a:t>            </a:t>
            </a:r>
            <a:r>
              <a:rPr lang="ko-KR" altLang="en-US" sz="1400" dirty="0" err="1"/>
              <a:t>집합교육</a:t>
            </a:r>
            <a:r>
              <a:rPr lang="ko-KR" altLang="en-US" sz="1400" dirty="0"/>
              <a:t> </a:t>
            </a:r>
            <a:r>
              <a:rPr lang="en-US" altLang="ko-KR" sz="1400" dirty="0"/>
              <a:t>(</a:t>
            </a:r>
            <a:r>
              <a:rPr lang="ko-KR" altLang="en-US" sz="1400" dirty="0"/>
              <a:t>총 </a:t>
            </a:r>
            <a:r>
              <a:rPr lang="en-US" altLang="ko-KR" sz="1400" dirty="0"/>
              <a:t>60</a:t>
            </a:r>
            <a:r>
              <a:rPr lang="ko-KR" altLang="en-US" sz="1400" dirty="0"/>
              <a:t>시간 </a:t>
            </a:r>
            <a:r>
              <a:rPr lang="en-US" altLang="ko-KR" sz="1400" dirty="0"/>
              <a:t>: </a:t>
            </a:r>
            <a:r>
              <a:rPr lang="ko-KR" altLang="en-US" sz="1400" dirty="0"/>
              <a:t>공통 </a:t>
            </a:r>
            <a:r>
              <a:rPr lang="en-US" altLang="ko-KR" sz="1400" dirty="0"/>
              <a:t>24hr + </a:t>
            </a:r>
            <a:r>
              <a:rPr lang="ko-KR" altLang="en-US" sz="1400" dirty="0" err="1"/>
              <a:t>트랙별</a:t>
            </a:r>
            <a:r>
              <a:rPr lang="ko-KR" altLang="en-US" sz="1400" dirty="0"/>
              <a:t> </a:t>
            </a:r>
            <a:r>
              <a:rPr lang="en-US" altLang="ko-KR" sz="1400" dirty="0"/>
              <a:t>36hr)</a:t>
            </a:r>
          </a:p>
          <a:p>
            <a:r>
              <a:rPr lang="en-US" altLang="ko-KR" sz="1400" dirty="0"/>
              <a:t>             </a:t>
            </a:r>
            <a:r>
              <a:rPr lang="ko-KR" altLang="en-US" sz="1400" dirty="0"/>
              <a:t>매주</a:t>
            </a:r>
            <a:r>
              <a:rPr lang="en-US" altLang="ko-KR" sz="1400" dirty="0"/>
              <a:t> </a:t>
            </a:r>
            <a:r>
              <a:rPr lang="ko-KR" altLang="en-US" sz="1400" dirty="0"/>
              <a:t>금</a:t>
            </a:r>
            <a:r>
              <a:rPr lang="en-US" altLang="ko-KR" sz="1400" dirty="0"/>
              <a:t>(19:00~21:00), </a:t>
            </a:r>
            <a:r>
              <a:rPr lang="ko-KR" altLang="en-US" sz="1400" dirty="0"/>
              <a:t>토</a:t>
            </a:r>
            <a:r>
              <a:rPr lang="en-US" altLang="ko-KR" sz="1400" dirty="0"/>
              <a:t>(09:00~13:00)* </a:t>
            </a:r>
          </a:p>
          <a:p>
            <a:r>
              <a:rPr lang="en-US" altLang="ko-KR" sz="1000" dirty="0"/>
              <a:t>                  * </a:t>
            </a:r>
            <a:r>
              <a:rPr lang="ko-KR" altLang="en-US" sz="1000" dirty="0"/>
              <a:t>실습 등</a:t>
            </a:r>
            <a:r>
              <a:rPr lang="en-US" altLang="ko-KR" sz="1000" dirty="0"/>
              <a:t> </a:t>
            </a:r>
            <a:r>
              <a:rPr lang="ko-KR" altLang="en-US" sz="1000" dirty="0"/>
              <a:t>교과목 내용에 따라 </a:t>
            </a:r>
            <a:r>
              <a:rPr lang="en-US" altLang="ko-KR" sz="1000" dirty="0"/>
              <a:t>8</a:t>
            </a:r>
            <a:r>
              <a:rPr lang="ko-KR" altLang="en-US" sz="1000" dirty="0"/>
              <a:t>시간 교육으로 진행 될 수 있음</a:t>
            </a:r>
            <a:endParaRPr lang="en-US" altLang="ko-KR" sz="1000" dirty="0"/>
          </a:p>
          <a:p>
            <a:endParaRPr lang="en-US" altLang="ko-KR" sz="1400" dirty="0"/>
          </a:p>
          <a:p>
            <a:r>
              <a:rPr lang="en-US" altLang="ko-KR" sz="1400" dirty="0"/>
              <a:t>            </a:t>
            </a:r>
            <a:r>
              <a:rPr lang="ko-KR" altLang="en-US" sz="1400" dirty="0"/>
              <a:t>교육기간 </a:t>
            </a:r>
            <a:r>
              <a:rPr lang="en-US" altLang="ko-KR" sz="1400" dirty="0"/>
              <a:t>: 2025. 7</a:t>
            </a:r>
            <a:r>
              <a:rPr lang="ko-KR" altLang="en-US" sz="1400" dirty="0"/>
              <a:t>월</a:t>
            </a:r>
            <a:r>
              <a:rPr lang="en-US" altLang="ko-KR" sz="1400" dirty="0"/>
              <a:t>~9</a:t>
            </a:r>
            <a:r>
              <a:rPr lang="ko-KR" altLang="en-US" sz="1400" dirty="0"/>
              <a:t>월</a:t>
            </a:r>
            <a:r>
              <a:rPr lang="en-US" altLang="ko-KR" sz="1400" dirty="0"/>
              <a:t>(</a:t>
            </a:r>
            <a:r>
              <a:rPr lang="ko-KR" altLang="en-US" sz="1400" dirty="0"/>
              <a:t>약 </a:t>
            </a:r>
            <a:r>
              <a:rPr lang="en-US" altLang="ko-KR" sz="1400" dirty="0"/>
              <a:t>9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en-US" altLang="ko-KR" sz="1050" dirty="0"/>
              <a:t>(</a:t>
            </a:r>
            <a:r>
              <a:rPr lang="ko-KR" altLang="en-US" sz="1050" dirty="0"/>
              <a:t>일정은 변경될 수 있음</a:t>
            </a:r>
            <a:r>
              <a:rPr lang="en-US" altLang="ko-KR" sz="1050" dirty="0"/>
              <a:t>)</a:t>
            </a:r>
          </a:p>
          <a:p>
            <a:endParaRPr lang="en-US" altLang="ko-KR" sz="1400" dirty="0"/>
          </a:p>
          <a:p>
            <a:r>
              <a:rPr lang="ko-KR" altLang="en-US" sz="1400" dirty="0"/>
              <a:t>교육장소 기존과 동일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신청방법 기존과 동일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문 의 처  금융투자교육원 담당자</a:t>
            </a:r>
            <a:r>
              <a:rPr lang="en-US" altLang="ko-KR" sz="1400" dirty="0"/>
              <a:t>: 02-2003-9819, 9884</a:t>
            </a:r>
          </a:p>
          <a:p>
            <a:r>
              <a:rPr lang="en-US" altLang="ko-KR" sz="1400" dirty="0"/>
              <a:t>             </a:t>
            </a:r>
            <a:r>
              <a:rPr lang="ko-KR" altLang="en-US" sz="1400" dirty="0"/>
              <a:t>서울시 </a:t>
            </a:r>
            <a:r>
              <a:rPr lang="ko-KR" altLang="en-US" sz="1400" dirty="0" err="1"/>
              <a:t>금융투자과</a:t>
            </a:r>
            <a:r>
              <a:rPr lang="ko-KR" altLang="en-US" sz="1400" dirty="0"/>
              <a:t> 담당자</a:t>
            </a:r>
            <a:r>
              <a:rPr lang="en-US" altLang="ko-KR" sz="1400" dirty="0"/>
              <a:t>: 02-2133-5243</a:t>
            </a:r>
            <a:endParaRPr lang="ko-KR" altLang="en-US" sz="1400" dirty="0"/>
          </a:p>
          <a:p>
            <a:endParaRPr lang="ko-KR" alt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2997679" y="0"/>
            <a:ext cx="6196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5. </a:t>
            </a:r>
            <a:r>
              <a:rPr lang="ko-KR" altLang="en-US" dirty="0" err="1" smtClean="0"/>
              <a:t>웹메일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133" y="184666"/>
            <a:ext cx="4605068" cy="651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07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4315</TotalTime>
  <Words>656</Words>
  <Application>Microsoft Office PowerPoint</Application>
  <PresentationFormat>와이드스크린</PresentationFormat>
  <Paragraphs>104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25</cp:revision>
  <dcterms:created xsi:type="dcterms:W3CDTF">2022-07-22T02:27:01Z</dcterms:created>
  <dcterms:modified xsi:type="dcterms:W3CDTF">2025-05-20T07:45:56Z</dcterms:modified>
</cp:coreProperties>
</file>